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8288000" cy="10287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C2DC31-A0B9-3B61-CF2C-CE56598FF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76350F-4C37-70CB-C260-38306210F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A836B1-205F-1F18-8DB7-0E647408A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E22448-D2F4-8F81-B989-37A94CDA8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2D235-3D55-8B42-F47C-5A51C45D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409409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242944-55EB-D9BA-71FC-EE82EDF3A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36F80F-6258-143B-07AC-4C8253230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7D1E584-2CA2-4F99-C617-086A801B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410FDD-32BD-7B1B-F0F5-9B3840633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7C098-D84B-2A03-0095-854313051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06078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41C7E9-3996-158F-02BD-A632A018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FD63C8-C6F3-1EC0-1923-39DE3DBFB5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821943-E8A6-DF5D-ABC2-F5CE583C4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22DE94-C6CF-A62F-B833-D50EE04C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8E68E1-D551-360A-004D-067E9D8D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1018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7A551-96F4-0107-244F-5C831B15E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788D3B-8FF2-D619-9E00-8B0627CCCA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277122-A6E1-22A2-0C35-08CDA4278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3C300C-47A0-4152-1630-3E3374ED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06FE4A-4867-3AF0-048F-CE00B439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A071E9-3273-BD9D-D406-BE8C9F958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1162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FA0210-9CDC-77D6-6F8B-54E1E6AE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10225E-CF01-D7CB-CF14-019DB6C9B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CCB1E0-DD96-ACE3-D247-EC217F6F6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290BB75-B3C4-9BBB-76FE-3F8A38194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33AADC4-22DC-6154-EB00-A989240FF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CF525F5-94E5-06F9-A5C7-CEF8BDE6A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3E704F8-F7E3-B027-45A7-0FD4FDFA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0A16772-D1B7-2608-0164-678FE2876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08564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6D3D36-822B-43D5-EDD7-D821B651C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510862-D67C-6D40-8A98-3F9DA2DF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92A59EB-DC3A-BBE2-B259-34280AAFD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398F5F4-AA70-B829-BFEF-24D86E7E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53652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375C84A-F87B-F234-7AC3-F697923C0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854B661-4403-231F-F06F-DD898FF57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B8CBA4-E68E-327F-57CE-EC277B28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5466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C34CE-AFCA-94CD-659D-6380741A4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B988E9-54E7-C595-EF57-7AEF09B8C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173EC5C-5D15-92A2-640A-9CC550463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C9C6C67-918B-54AE-645D-EDEABDF73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7737AAA-5F76-F8E8-2C7A-E36BEEE7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1D02C0-E80E-B5AF-5A50-A6C88C9F8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1563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B045D8F-0F03-09E0-1E06-C0D0AC082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DD2E079-95DE-CD4F-D646-AC1128E99C0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D4321D-B37F-5529-0BA4-741D98486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8FB4FD3-16EC-1CAE-6CF1-F092330F7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C9F462-5F2D-88DA-138A-F6A045701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2AFF5C-E523-4CDC-A25A-DD49D0395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65401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615C1-46DE-0DE4-C23C-A733A8E0F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EDBAC1E-062E-6FE2-69A2-9B3F94447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535D8C-ADAB-A03D-CFED-8CC0AF017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F878BE-14AA-E654-64A8-40044765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E5609D-BB22-9F7F-64D5-470434C6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23391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D62256-6A7A-1A50-3347-5DF43B562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7D1FAA5-91DC-4120-EE56-5BCD92C4E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462ACB-6991-3814-572B-C35E8D110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CA2AEE0-D896-663B-07FF-07E205E2E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327FCF-D4E0-C085-2FA1-83853302B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728660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A2FBB76-D2B9-BD05-4DC1-0213FC679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0CC931-2D3C-86FF-5D1C-E5CBAFF76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0EEDB9C-2316-BC35-FF01-72EE0E5CAD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7130A-1F94-4A45-983C-8B26E47C2CED}" type="datetimeFigureOut">
              <a:rPr lang="fr-CH" smtClean="0"/>
              <a:t>14.10.2026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3E0FC73-663B-1420-7F88-938A0351D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5E03FF-D4C6-6FB4-31DB-6BF4B048E9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2573D-9962-4CAD-910E-D9F1ED41D93C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409748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44AA940E-04BA-0503-CBC7-EAE58ED14BDF}"/>
              </a:ext>
            </a:extLst>
          </p:cNvPr>
          <p:cNvSpPr/>
          <p:nvPr/>
        </p:nvSpPr>
        <p:spPr>
          <a:xfrm>
            <a:off x="6858000" y="279400"/>
            <a:ext cx="4572000" cy="5842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fr-FR" sz="1500" b="1">
                <a:solidFill>
                  <a:srgbClr val="FFFFFF"/>
                </a:solidFill>
                <a:latin typeface="Calibri" panose="020F0502020204030204" pitchFamily="34" charset="0"/>
              </a:rPr>
              <a:t>Journée portes ouvertes
(charge totale : 25 j)</a:t>
            </a:r>
            <a:endParaRPr lang="fr-CH" sz="15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714D3C09-41F7-E26D-4F49-CFA3BEEEE03B}"/>
              </a:ext>
            </a:extLst>
          </p:cNvPr>
          <p:cNvCxnSpPr/>
          <p:nvPr/>
        </p:nvCxnSpPr>
        <p:spPr>
          <a:xfrm>
            <a:off x="9144000" y="863600"/>
            <a:ext cx="0" cy="2794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0D91A46-26CA-5A1C-F7D0-1782FA714578}"/>
              </a:ext>
            </a:extLst>
          </p:cNvPr>
          <p:cNvCxnSpPr/>
          <p:nvPr/>
        </p:nvCxnSpPr>
        <p:spPr>
          <a:xfrm>
            <a:off x="2006600" y="1143000"/>
            <a:ext cx="14020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54DECD5-2100-8B98-0673-176E62E59C2B}"/>
              </a:ext>
            </a:extLst>
          </p:cNvPr>
          <p:cNvCxnSpPr/>
          <p:nvPr/>
        </p:nvCxnSpPr>
        <p:spPr>
          <a:xfrm>
            <a:off x="2006600" y="1143000"/>
            <a:ext cx="0" cy="2540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E24C663-CC13-CCFC-113C-C882E600524F}"/>
              </a:ext>
            </a:extLst>
          </p:cNvPr>
          <p:cNvSpPr/>
          <p:nvPr/>
        </p:nvSpPr>
        <p:spPr>
          <a:xfrm>
            <a:off x="381000" y="1397000"/>
            <a:ext cx="3251200" cy="635000"/>
          </a:xfrm>
          <a:prstGeom prst="roundRect">
            <a:avLst>
              <a:gd name="adj" fmla="val 12000"/>
            </a:avLst>
          </a:prstGeom>
          <a:solidFill>
            <a:srgbClr val="3B78B5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Calibri" panose="020F0502020204030204" pitchFamily="34" charset="0"/>
              </a:rPr>
              <a:t>1. Gestion de projet
4 j</a:t>
            </a:r>
            <a:endParaRPr lang="fr-CH" sz="1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C3C1791-6E06-9BE0-B8EF-FB97158878E9}"/>
              </a:ext>
            </a:extLst>
          </p:cNvPr>
          <p:cNvSpPr/>
          <p:nvPr/>
        </p:nvSpPr>
        <p:spPr>
          <a:xfrm>
            <a:off x="711200" y="22225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1.1  Lancement  (1,5 j)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8DBAB42-5AE3-E1CF-DD2D-88E2B432B95F}"/>
              </a:ext>
            </a:extLst>
          </p:cNvPr>
          <p:cNvCxnSpPr/>
          <p:nvPr/>
        </p:nvCxnSpPr>
        <p:spPr>
          <a:xfrm>
            <a:off x="533400" y="24257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3580966-F407-343C-FAEE-879F5FAD04DE}"/>
              </a:ext>
            </a:extLst>
          </p:cNvPr>
          <p:cNvSpPr/>
          <p:nvPr/>
        </p:nvSpPr>
        <p:spPr>
          <a:xfrm>
            <a:off x="1066800" y="27051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1.1.1  Entretien avec la direction (recueil des besoins)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E55BA28-F6D0-E918-261A-AC361BBE34C5}"/>
              </a:ext>
            </a:extLst>
          </p:cNvPr>
          <p:cNvCxnSpPr/>
          <p:nvPr/>
        </p:nvCxnSpPr>
        <p:spPr>
          <a:xfrm>
            <a:off x="889000" y="2946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2C0F23B-2475-96B3-3071-3DA487342A8E}"/>
              </a:ext>
            </a:extLst>
          </p:cNvPr>
          <p:cNvSpPr/>
          <p:nvPr/>
        </p:nvSpPr>
        <p:spPr>
          <a:xfrm>
            <a:off x="1066800" y="32512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1.1.2  Rédaction et validation de la charte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3C1A5D54-540F-DD7F-914E-A81B050A8536}"/>
              </a:ext>
            </a:extLst>
          </p:cNvPr>
          <p:cNvCxnSpPr/>
          <p:nvPr/>
        </p:nvCxnSpPr>
        <p:spPr>
          <a:xfrm>
            <a:off x="889000" y="34925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0726A396-68F1-560C-DB1A-66A7E63B7886}"/>
              </a:ext>
            </a:extLst>
          </p:cNvPr>
          <p:cNvCxnSpPr/>
          <p:nvPr/>
        </p:nvCxnSpPr>
        <p:spPr>
          <a:xfrm>
            <a:off x="889000" y="26289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D8726A1-92F6-1A5B-76F9-4DD3966E1E8A}"/>
              </a:ext>
            </a:extLst>
          </p:cNvPr>
          <p:cNvSpPr/>
          <p:nvPr/>
        </p:nvSpPr>
        <p:spPr>
          <a:xfrm>
            <a:off x="711200" y="37973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1.2  Suivi  (1,5 j)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17BEF036-71A6-E8B5-70C4-E6216EC9DC05}"/>
              </a:ext>
            </a:extLst>
          </p:cNvPr>
          <p:cNvCxnSpPr/>
          <p:nvPr/>
        </p:nvCxnSpPr>
        <p:spPr>
          <a:xfrm>
            <a:off x="533400" y="40005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C8F20D41-376D-EAE8-C683-58B4735E8C80}"/>
              </a:ext>
            </a:extLst>
          </p:cNvPr>
          <p:cNvSpPr/>
          <p:nvPr/>
        </p:nvSpPr>
        <p:spPr>
          <a:xfrm>
            <a:off x="1066800" y="42799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1.2.1  Point hebdomadaire avec la direction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BE6749DC-8366-E190-AFAA-8E126393A29E}"/>
              </a:ext>
            </a:extLst>
          </p:cNvPr>
          <p:cNvCxnSpPr/>
          <p:nvPr/>
        </p:nvCxnSpPr>
        <p:spPr>
          <a:xfrm>
            <a:off x="889000" y="45212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AE76DB69-9D58-0EF5-F501-9E03BAA5A0C3}"/>
              </a:ext>
            </a:extLst>
          </p:cNvPr>
          <p:cNvSpPr/>
          <p:nvPr/>
        </p:nvSpPr>
        <p:spPr>
          <a:xfrm>
            <a:off x="1066800" y="48260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1.2.2  Suivi du budget et des dépenses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746142AB-8974-9A09-CF63-3361EA18D2A1}"/>
              </a:ext>
            </a:extLst>
          </p:cNvPr>
          <p:cNvCxnSpPr/>
          <p:nvPr/>
        </p:nvCxnSpPr>
        <p:spPr>
          <a:xfrm>
            <a:off x="889000" y="50673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CD714210-DD03-C6A1-71E1-11C1984E3224}"/>
              </a:ext>
            </a:extLst>
          </p:cNvPr>
          <p:cNvCxnSpPr/>
          <p:nvPr/>
        </p:nvCxnSpPr>
        <p:spPr>
          <a:xfrm>
            <a:off x="889000" y="42037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4964366-CDB0-513C-0E20-CC41A385B489}"/>
              </a:ext>
            </a:extLst>
          </p:cNvPr>
          <p:cNvSpPr/>
          <p:nvPr/>
        </p:nvSpPr>
        <p:spPr>
          <a:xfrm>
            <a:off x="711200" y="53721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1.3  Clôture  (1 j)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CF80748B-4271-9E26-B04B-C99C12D1AACD}"/>
              </a:ext>
            </a:extLst>
          </p:cNvPr>
          <p:cNvCxnSpPr/>
          <p:nvPr/>
        </p:nvCxnSpPr>
        <p:spPr>
          <a:xfrm>
            <a:off x="533400" y="55753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2C75C95-14EC-A201-FB73-745CE401F427}"/>
              </a:ext>
            </a:extLst>
          </p:cNvPr>
          <p:cNvSpPr/>
          <p:nvPr/>
        </p:nvSpPr>
        <p:spPr>
          <a:xfrm>
            <a:off x="1066800" y="58547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1.3.1  Questionnaire de satisfaction des visiteurs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4308723F-0313-1963-A82A-6D45F5B7C001}"/>
              </a:ext>
            </a:extLst>
          </p:cNvPr>
          <p:cNvCxnSpPr/>
          <p:nvPr/>
        </p:nvCxnSpPr>
        <p:spPr>
          <a:xfrm>
            <a:off x="889000" y="60960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933B839D-F0D6-AD2D-F687-9A2C439C1C47}"/>
              </a:ext>
            </a:extLst>
          </p:cNvPr>
          <p:cNvSpPr/>
          <p:nvPr/>
        </p:nvSpPr>
        <p:spPr>
          <a:xfrm>
            <a:off x="1066800" y="64008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1.3.2  Bilan final avec la direction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B6E81BF-B9DB-2D28-A53A-CC35685D7DBB}"/>
              </a:ext>
            </a:extLst>
          </p:cNvPr>
          <p:cNvCxnSpPr/>
          <p:nvPr/>
        </p:nvCxnSpPr>
        <p:spPr>
          <a:xfrm>
            <a:off x="889000" y="66421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C5B328E8-0CBE-8C8B-1915-52D0689B643F}"/>
              </a:ext>
            </a:extLst>
          </p:cNvPr>
          <p:cNvCxnSpPr/>
          <p:nvPr/>
        </p:nvCxnSpPr>
        <p:spPr>
          <a:xfrm>
            <a:off x="889000" y="57785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D926AFFA-E5DA-9DDA-5897-B5C7E2DCD488}"/>
              </a:ext>
            </a:extLst>
          </p:cNvPr>
          <p:cNvCxnSpPr/>
          <p:nvPr/>
        </p:nvCxnSpPr>
        <p:spPr>
          <a:xfrm>
            <a:off x="533400" y="2032000"/>
            <a:ext cx="0" cy="35433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A3F95A37-23E7-C99A-4EEB-5D65DBEA6BC8}"/>
              </a:ext>
            </a:extLst>
          </p:cNvPr>
          <p:cNvCxnSpPr/>
          <p:nvPr/>
        </p:nvCxnSpPr>
        <p:spPr>
          <a:xfrm>
            <a:off x="5511800" y="1143000"/>
            <a:ext cx="0" cy="2540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A7BED518-519C-6219-DDF1-1700AD697081}"/>
              </a:ext>
            </a:extLst>
          </p:cNvPr>
          <p:cNvSpPr/>
          <p:nvPr/>
        </p:nvSpPr>
        <p:spPr>
          <a:xfrm>
            <a:off x="3886200" y="1397000"/>
            <a:ext cx="3251200" cy="635000"/>
          </a:xfrm>
          <a:prstGeom prst="roundRect">
            <a:avLst>
              <a:gd name="adj" fmla="val 12000"/>
            </a:avLst>
          </a:prstGeom>
          <a:solidFill>
            <a:srgbClr val="3B78B5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Calibri" panose="020F0502020204030204" pitchFamily="34" charset="0"/>
              </a:rPr>
              <a:t>2. Programme et contenus
7 j</a:t>
            </a:r>
            <a:endParaRPr lang="fr-CH" sz="1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22FB9907-D478-5953-35DA-5DCEFF2B4EC1}"/>
              </a:ext>
            </a:extLst>
          </p:cNvPr>
          <p:cNvSpPr/>
          <p:nvPr/>
        </p:nvSpPr>
        <p:spPr>
          <a:xfrm>
            <a:off x="4216400" y="22225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1050" b="1">
                <a:solidFill>
                  <a:srgbClr val="000000"/>
                </a:solidFill>
                <a:latin typeface="Calibri" panose="020F0502020204030204" pitchFamily="34" charset="0"/>
              </a:rPr>
              <a:t>2.1  Programme de la journée  (1,5 j)</a:t>
            </a:r>
            <a:endParaRPr lang="fr-CH" sz="105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68067E44-61D7-118F-B402-92EB3073B4DD}"/>
              </a:ext>
            </a:extLst>
          </p:cNvPr>
          <p:cNvCxnSpPr/>
          <p:nvPr/>
        </p:nvCxnSpPr>
        <p:spPr>
          <a:xfrm>
            <a:off x="4038600" y="24257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1FDC5CA6-565C-7568-E2BB-FF9F09CB9AB8}"/>
              </a:ext>
            </a:extLst>
          </p:cNvPr>
          <p:cNvSpPr/>
          <p:nvPr/>
        </p:nvSpPr>
        <p:spPr>
          <a:xfrm>
            <a:off x="4572000" y="27051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2.1.1  Horaires et déroulé de la journée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450DE5FB-C49F-2629-CBE8-33DEAEE73906}"/>
              </a:ext>
            </a:extLst>
          </p:cNvPr>
          <p:cNvCxnSpPr/>
          <p:nvPr/>
        </p:nvCxnSpPr>
        <p:spPr>
          <a:xfrm>
            <a:off x="4394200" y="2946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EFB13D12-237F-490A-F120-EDA250FB7C54}"/>
              </a:ext>
            </a:extLst>
          </p:cNvPr>
          <p:cNvSpPr/>
          <p:nvPr/>
        </p:nvSpPr>
        <p:spPr>
          <a:xfrm>
            <a:off x="4572000" y="32512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2.1.2  Choix des animations (visites, démonstrations, stands)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A7DF73F5-2493-E4C3-27E1-3D0F454C4068}"/>
              </a:ext>
            </a:extLst>
          </p:cNvPr>
          <p:cNvCxnSpPr/>
          <p:nvPr/>
        </p:nvCxnSpPr>
        <p:spPr>
          <a:xfrm>
            <a:off x="4394200" y="34925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86214F47-2AB0-72BE-44CF-B1C420C0657A}"/>
              </a:ext>
            </a:extLst>
          </p:cNvPr>
          <p:cNvCxnSpPr/>
          <p:nvPr/>
        </p:nvCxnSpPr>
        <p:spPr>
          <a:xfrm>
            <a:off x="4394200" y="26289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C43F5544-B7BC-7609-4B02-7976A75FC90E}"/>
              </a:ext>
            </a:extLst>
          </p:cNvPr>
          <p:cNvSpPr/>
          <p:nvPr/>
        </p:nvSpPr>
        <p:spPr>
          <a:xfrm>
            <a:off x="4216400" y="37973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2.2  Contenus  (5,5 j)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D4213070-BBC6-7952-3DFC-F1F318447257}"/>
              </a:ext>
            </a:extLst>
          </p:cNvPr>
          <p:cNvCxnSpPr/>
          <p:nvPr/>
        </p:nvCxnSpPr>
        <p:spPr>
          <a:xfrm>
            <a:off x="4038600" y="40005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94E3B481-1C6A-8D92-DFE5-5CF4CC528C01}"/>
              </a:ext>
            </a:extLst>
          </p:cNvPr>
          <p:cNvSpPr/>
          <p:nvPr/>
        </p:nvSpPr>
        <p:spPr>
          <a:xfrm>
            <a:off x="4572000" y="42799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2.2.1  Présentation de l'entreprise (diaporama en boucle)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375B32C-BDEC-AA55-98A8-BEDA043BE8CC}"/>
              </a:ext>
            </a:extLst>
          </p:cNvPr>
          <p:cNvCxnSpPr/>
          <p:nvPr/>
        </p:nvCxnSpPr>
        <p:spPr>
          <a:xfrm>
            <a:off x="4394200" y="45212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69382180-82AC-EDE4-D243-3C36D170DBB1}"/>
              </a:ext>
            </a:extLst>
          </p:cNvPr>
          <p:cNvSpPr/>
          <p:nvPr/>
        </p:nvSpPr>
        <p:spPr>
          <a:xfrm>
            <a:off x="4572000" y="48260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2.2.2  Préparation des démonstrations par service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C16771CC-64AE-2299-9089-28245DAA7DB3}"/>
              </a:ext>
            </a:extLst>
          </p:cNvPr>
          <p:cNvCxnSpPr/>
          <p:nvPr/>
        </p:nvCxnSpPr>
        <p:spPr>
          <a:xfrm>
            <a:off x="4394200" y="50673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110A835E-3127-3582-CF72-8B875723665C}"/>
              </a:ext>
            </a:extLst>
          </p:cNvPr>
          <p:cNvSpPr/>
          <p:nvPr/>
        </p:nvSpPr>
        <p:spPr>
          <a:xfrm>
            <a:off x="4572000" y="53721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2.2.3  Supports imprimés (flyers, kakémono)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240563CA-283E-22D0-07C1-C000059C1407}"/>
              </a:ext>
            </a:extLst>
          </p:cNvPr>
          <p:cNvCxnSpPr/>
          <p:nvPr/>
        </p:nvCxnSpPr>
        <p:spPr>
          <a:xfrm>
            <a:off x="4394200" y="5613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09937763-486A-D957-6324-70C648490E6F}"/>
              </a:ext>
            </a:extLst>
          </p:cNvPr>
          <p:cNvCxnSpPr/>
          <p:nvPr/>
        </p:nvCxnSpPr>
        <p:spPr>
          <a:xfrm>
            <a:off x="4394200" y="4203700"/>
            <a:ext cx="0" cy="14097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FD1D5A4B-1BCE-9D42-4D21-736CBC7B994B}"/>
              </a:ext>
            </a:extLst>
          </p:cNvPr>
          <p:cNvCxnSpPr/>
          <p:nvPr/>
        </p:nvCxnSpPr>
        <p:spPr>
          <a:xfrm>
            <a:off x="4038600" y="2032000"/>
            <a:ext cx="0" cy="19685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5DD225B7-D5B1-DF94-CFE7-36C09FA24166}"/>
              </a:ext>
            </a:extLst>
          </p:cNvPr>
          <p:cNvCxnSpPr/>
          <p:nvPr/>
        </p:nvCxnSpPr>
        <p:spPr>
          <a:xfrm>
            <a:off x="9017000" y="1143000"/>
            <a:ext cx="0" cy="2540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83A0BD99-FE2D-74AF-7024-81FB637667FF}"/>
              </a:ext>
            </a:extLst>
          </p:cNvPr>
          <p:cNvSpPr/>
          <p:nvPr/>
        </p:nvSpPr>
        <p:spPr>
          <a:xfrm>
            <a:off x="7391400" y="1397000"/>
            <a:ext cx="3251200" cy="635000"/>
          </a:xfrm>
          <a:prstGeom prst="roundRect">
            <a:avLst>
              <a:gd name="adj" fmla="val 12000"/>
            </a:avLst>
          </a:prstGeom>
          <a:solidFill>
            <a:srgbClr val="3B78B5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fr-CH" sz="1200" b="1">
                <a:solidFill>
                  <a:srgbClr val="FFFFFF"/>
                </a:solidFill>
                <a:latin typeface="Calibri" panose="020F0502020204030204" pitchFamily="34" charset="0"/>
              </a:rPr>
              <a:t>3. Communication
4,25 j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8992BFE3-AAFB-C2D7-8878-B5139EB4E31F}"/>
              </a:ext>
            </a:extLst>
          </p:cNvPr>
          <p:cNvSpPr/>
          <p:nvPr/>
        </p:nvSpPr>
        <p:spPr>
          <a:xfrm>
            <a:off x="7721600" y="22225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1050" b="1">
                <a:solidFill>
                  <a:srgbClr val="000000"/>
                </a:solidFill>
                <a:latin typeface="Calibri" panose="020F0502020204030204" pitchFamily="34" charset="0"/>
              </a:rPr>
              <a:t>3.1  Communication externe  (2 j)</a:t>
            </a:r>
            <a:endParaRPr lang="fr-CH" sz="105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9A53D649-BF98-3FE1-724C-32A04B927535}"/>
              </a:ext>
            </a:extLst>
          </p:cNvPr>
          <p:cNvCxnSpPr/>
          <p:nvPr/>
        </p:nvCxnSpPr>
        <p:spPr>
          <a:xfrm>
            <a:off x="7543800" y="24257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C66670D9-1D41-35CE-3182-84F6B1530620}"/>
              </a:ext>
            </a:extLst>
          </p:cNvPr>
          <p:cNvSpPr/>
          <p:nvPr/>
        </p:nvSpPr>
        <p:spPr>
          <a:xfrm>
            <a:off x="8077200" y="27051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3.1.1  Liste des invités (clients, partenaires, voisins, presse locale)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53" name="Connecteur droit 52">
            <a:extLst>
              <a:ext uri="{FF2B5EF4-FFF2-40B4-BE49-F238E27FC236}">
                <a16:creationId xmlns:a16="http://schemas.microsoft.com/office/drawing/2014/main" id="{6265CCB3-ECA4-5965-7827-5CB56CC3B9C2}"/>
              </a:ext>
            </a:extLst>
          </p:cNvPr>
          <p:cNvCxnSpPr/>
          <p:nvPr/>
        </p:nvCxnSpPr>
        <p:spPr>
          <a:xfrm>
            <a:off x="7899400" y="2946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523B404E-4D69-C2D6-6E8A-A9E3EA04F18A}"/>
              </a:ext>
            </a:extLst>
          </p:cNvPr>
          <p:cNvSpPr/>
          <p:nvPr/>
        </p:nvSpPr>
        <p:spPr>
          <a:xfrm>
            <a:off x="8077200" y="32512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3.1.2  Envoi des invitations (e-mail et courrier)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BF128142-049A-F7FD-C561-76F5544DFF82}"/>
              </a:ext>
            </a:extLst>
          </p:cNvPr>
          <p:cNvCxnSpPr/>
          <p:nvPr/>
        </p:nvCxnSpPr>
        <p:spPr>
          <a:xfrm>
            <a:off x="7899400" y="34925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FA03E8B4-89BE-2D8A-C167-EC2152C62DDB}"/>
              </a:ext>
            </a:extLst>
          </p:cNvPr>
          <p:cNvSpPr/>
          <p:nvPr/>
        </p:nvSpPr>
        <p:spPr>
          <a:xfrm>
            <a:off x="8077200" y="37973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3.1.3  Annonce sur le site web et les réseaux sociaux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C2C1491D-63B5-1FD5-E799-5EEEBDBA2126}"/>
              </a:ext>
            </a:extLst>
          </p:cNvPr>
          <p:cNvCxnSpPr/>
          <p:nvPr/>
        </p:nvCxnSpPr>
        <p:spPr>
          <a:xfrm>
            <a:off x="7899400" y="40386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81DFF2DE-038E-6062-DB04-CC8F11AB2B86}"/>
              </a:ext>
            </a:extLst>
          </p:cNvPr>
          <p:cNvCxnSpPr/>
          <p:nvPr/>
        </p:nvCxnSpPr>
        <p:spPr>
          <a:xfrm>
            <a:off x="7899400" y="2628900"/>
            <a:ext cx="0" cy="14097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33C9272E-9947-4A6C-A466-F12427C4158A}"/>
              </a:ext>
            </a:extLst>
          </p:cNvPr>
          <p:cNvSpPr/>
          <p:nvPr/>
        </p:nvSpPr>
        <p:spPr>
          <a:xfrm>
            <a:off x="7721600" y="43434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1050" b="1">
                <a:solidFill>
                  <a:srgbClr val="000000"/>
                </a:solidFill>
                <a:latin typeface="Calibri" panose="020F0502020204030204" pitchFamily="34" charset="0"/>
              </a:rPr>
              <a:t>3.2  Communication interne  (0,75 j)</a:t>
            </a:r>
            <a:endParaRPr lang="fr-CH" sz="105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6EB9AB-EEE3-15DC-BE23-B7BFE2A43113}"/>
              </a:ext>
            </a:extLst>
          </p:cNvPr>
          <p:cNvCxnSpPr/>
          <p:nvPr/>
        </p:nvCxnSpPr>
        <p:spPr>
          <a:xfrm>
            <a:off x="7543800" y="45466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219B4411-7859-A977-5217-DE66CE8EF1FE}"/>
              </a:ext>
            </a:extLst>
          </p:cNvPr>
          <p:cNvSpPr/>
          <p:nvPr/>
        </p:nvSpPr>
        <p:spPr>
          <a:xfrm>
            <a:off x="8077200" y="48260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950">
                <a:solidFill>
                  <a:srgbClr val="000000"/>
                </a:solidFill>
                <a:latin typeface="Calibri" panose="020F0502020204030204" pitchFamily="34" charset="0"/>
              </a:rPr>
              <a:t>3.2.1  Information des collaborateurs</a:t>
            </a:r>
          </a:p>
        </p:txBody>
      </p: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00D07220-450D-6E5E-F735-ABB9469289B6}"/>
              </a:ext>
            </a:extLst>
          </p:cNvPr>
          <p:cNvCxnSpPr/>
          <p:nvPr/>
        </p:nvCxnSpPr>
        <p:spPr>
          <a:xfrm>
            <a:off x="7899400" y="50673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7A770B4A-D20B-96D1-DE4C-507B9B37D0A3}"/>
              </a:ext>
            </a:extLst>
          </p:cNvPr>
          <p:cNvSpPr/>
          <p:nvPr/>
        </p:nvSpPr>
        <p:spPr>
          <a:xfrm>
            <a:off x="8077200" y="53721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3.2.2  Planning de présence du personnel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BBD6A06E-F64D-7E3E-1F05-12D768BC2570}"/>
              </a:ext>
            </a:extLst>
          </p:cNvPr>
          <p:cNvCxnSpPr/>
          <p:nvPr/>
        </p:nvCxnSpPr>
        <p:spPr>
          <a:xfrm>
            <a:off x="7899400" y="5613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89A948C-5536-E7E8-C735-145A62FDC277}"/>
              </a:ext>
            </a:extLst>
          </p:cNvPr>
          <p:cNvCxnSpPr/>
          <p:nvPr/>
        </p:nvCxnSpPr>
        <p:spPr>
          <a:xfrm>
            <a:off x="7899400" y="47498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 : coins arrondis 65">
            <a:extLst>
              <a:ext uri="{FF2B5EF4-FFF2-40B4-BE49-F238E27FC236}">
                <a16:creationId xmlns:a16="http://schemas.microsoft.com/office/drawing/2014/main" id="{D96D6675-E5DE-4EE5-196A-593E7CCCC0AC}"/>
              </a:ext>
            </a:extLst>
          </p:cNvPr>
          <p:cNvSpPr/>
          <p:nvPr/>
        </p:nvSpPr>
        <p:spPr>
          <a:xfrm>
            <a:off x="7721600" y="59182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3.3  Inscriptions  (1,5 j)</a:t>
            </a:r>
          </a:p>
        </p:txBody>
      </p:sp>
      <p:cxnSp>
        <p:nvCxnSpPr>
          <p:cNvPr id="67" name="Connecteur droit 66">
            <a:extLst>
              <a:ext uri="{FF2B5EF4-FFF2-40B4-BE49-F238E27FC236}">
                <a16:creationId xmlns:a16="http://schemas.microsoft.com/office/drawing/2014/main" id="{6F16EB30-A01B-2288-8A44-58690D5BE09C}"/>
              </a:ext>
            </a:extLst>
          </p:cNvPr>
          <p:cNvCxnSpPr/>
          <p:nvPr/>
        </p:nvCxnSpPr>
        <p:spPr>
          <a:xfrm>
            <a:off x="7543800" y="6121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C13E1EBE-CE3E-27E7-D79A-454BBB10CCCA}"/>
              </a:ext>
            </a:extLst>
          </p:cNvPr>
          <p:cNvSpPr/>
          <p:nvPr/>
        </p:nvSpPr>
        <p:spPr>
          <a:xfrm>
            <a:off x="8077200" y="64008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3.3.1  Formulaire d'inscription en ligne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69" name="Connecteur droit 68">
            <a:extLst>
              <a:ext uri="{FF2B5EF4-FFF2-40B4-BE49-F238E27FC236}">
                <a16:creationId xmlns:a16="http://schemas.microsoft.com/office/drawing/2014/main" id="{A3DB3AAA-1C3C-0570-86B2-2CD402D1098E}"/>
              </a:ext>
            </a:extLst>
          </p:cNvPr>
          <p:cNvCxnSpPr/>
          <p:nvPr/>
        </p:nvCxnSpPr>
        <p:spPr>
          <a:xfrm>
            <a:off x="7899400" y="66421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4E4E4409-F3FA-3289-70D1-FB8F3AF8797D}"/>
              </a:ext>
            </a:extLst>
          </p:cNvPr>
          <p:cNvSpPr/>
          <p:nvPr/>
        </p:nvSpPr>
        <p:spPr>
          <a:xfrm>
            <a:off x="8077200" y="69469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3.3.2  Suivi des inscrits et relances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BF796D22-3AFE-2BD9-A8B2-9E45AC606E49}"/>
              </a:ext>
            </a:extLst>
          </p:cNvPr>
          <p:cNvCxnSpPr/>
          <p:nvPr/>
        </p:nvCxnSpPr>
        <p:spPr>
          <a:xfrm>
            <a:off x="7899400" y="71882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15124386-B888-00D1-54A5-8E53CA7F9CC8}"/>
              </a:ext>
            </a:extLst>
          </p:cNvPr>
          <p:cNvCxnSpPr/>
          <p:nvPr/>
        </p:nvCxnSpPr>
        <p:spPr>
          <a:xfrm>
            <a:off x="7899400" y="63246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eur droit 72">
            <a:extLst>
              <a:ext uri="{FF2B5EF4-FFF2-40B4-BE49-F238E27FC236}">
                <a16:creationId xmlns:a16="http://schemas.microsoft.com/office/drawing/2014/main" id="{83967F4E-59D2-62DB-5B5F-8F244A6357AD}"/>
              </a:ext>
            </a:extLst>
          </p:cNvPr>
          <p:cNvCxnSpPr/>
          <p:nvPr/>
        </p:nvCxnSpPr>
        <p:spPr>
          <a:xfrm>
            <a:off x="7543800" y="2032000"/>
            <a:ext cx="0" cy="40894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7FE97B33-8AA1-988B-B4C7-677485C83960}"/>
              </a:ext>
            </a:extLst>
          </p:cNvPr>
          <p:cNvCxnSpPr/>
          <p:nvPr/>
        </p:nvCxnSpPr>
        <p:spPr>
          <a:xfrm>
            <a:off x="12522200" y="1143000"/>
            <a:ext cx="0" cy="2540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 : coins arrondis 74">
            <a:extLst>
              <a:ext uri="{FF2B5EF4-FFF2-40B4-BE49-F238E27FC236}">
                <a16:creationId xmlns:a16="http://schemas.microsoft.com/office/drawing/2014/main" id="{804742C4-2C98-038E-5230-DA90996C09FE}"/>
              </a:ext>
            </a:extLst>
          </p:cNvPr>
          <p:cNvSpPr/>
          <p:nvPr/>
        </p:nvSpPr>
        <p:spPr>
          <a:xfrm>
            <a:off x="10896600" y="1397000"/>
            <a:ext cx="3251200" cy="635000"/>
          </a:xfrm>
          <a:prstGeom prst="roundRect">
            <a:avLst>
              <a:gd name="adj" fmla="val 12000"/>
            </a:avLst>
          </a:prstGeom>
          <a:solidFill>
            <a:srgbClr val="3B78B5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fr-CH" sz="1200" b="1">
                <a:solidFill>
                  <a:srgbClr val="FFFFFF"/>
                </a:solidFill>
                <a:latin typeface="Calibri" panose="020F0502020204030204" pitchFamily="34" charset="0"/>
              </a:rPr>
              <a:t>4. Logistique
5,5 j</a:t>
            </a:r>
          </a:p>
        </p:txBody>
      </p:sp>
      <p:sp>
        <p:nvSpPr>
          <p:cNvPr id="76" name="Rectangle : coins arrondis 75">
            <a:extLst>
              <a:ext uri="{FF2B5EF4-FFF2-40B4-BE49-F238E27FC236}">
                <a16:creationId xmlns:a16="http://schemas.microsoft.com/office/drawing/2014/main" id="{0EEBB8C0-9323-EFFC-96DD-C24BADE09EF5}"/>
              </a:ext>
            </a:extLst>
          </p:cNvPr>
          <p:cNvSpPr/>
          <p:nvPr/>
        </p:nvSpPr>
        <p:spPr>
          <a:xfrm>
            <a:off x="11226800" y="22225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4.1  Locaux  (2 j)</a:t>
            </a:r>
          </a:p>
        </p:txBody>
      </p: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2A0BB578-9511-43B8-5C94-7FA987D38E16}"/>
              </a:ext>
            </a:extLst>
          </p:cNvPr>
          <p:cNvCxnSpPr/>
          <p:nvPr/>
        </p:nvCxnSpPr>
        <p:spPr>
          <a:xfrm>
            <a:off x="11049000" y="24257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 : coins arrondis 77">
            <a:extLst>
              <a:ext uri="{FF2B5EF4-FFF2-40B4-BE49-F238E27FC236}">
                <a16:creationId xmlns:a16="http://schemas.microsoft.com/office/drawing/2014/main" id="{B64FEB61-B78D-DF6D-EF46-C76FF390E200}"/>
              </a:ext>
            </a:extLst>
          </p:cNvPr>
          <p:cNvSpPr/>
          <p:nvPr/>
        </p:nvSpPr>
        <p:spPr>
          <a:xfrm>
            <a:off x="11582400" y="27051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4.1.1  Plan d'aménagement des espaces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79" name="Connecteur droit 78">
            <a:extLst>
              <a:ext uri="{FF2B5EF4-FFF2-40B4-BE49-F238E27FC236}">
                <a16:creationId xmlns:a16="http://schemas.microsoft.com/office/drawing/2014/main" id="{47637E1A-4F9D-9241-13BC-F5A23A2DB8B9}"/>
              </a:ext>
            </a:extLst>
          </p:cNvPr>
          <p:cNvCxnSpPr/>
          <p:nvPr/>
        </p:nvCxnSpPr>
        <p:spPr>
          <a:xfrm>
            <a:off x="11404600" y="2946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 : coins arrondis 79">
            <a:extLst>
              <a:ext uri="{FF2B5EF4-FFF2-40B4-BE49-F238E27FC236}">
                <a16:creationId xmlns:a16="http://schemas.microsoft.com/office/drawing/2014/main" id="{B59D40ED-3B8A-E058-8D9D-FB7EA0A04113}"/>
              </a:ext>
            </a:extLst>
          </p:cNvPr>
          <p:cNvSpPr/>
          <p:nvPr/>
        </p:nvSpPr>
        <p:spPr>
          <a:xfrm>
            <a:off x="11582400" y="32512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950">
                <a:solidFill>
                  <a:srgbClr val="000000"/>
                </a:solidFill>
                <a:latin typeface="Calibri" panose="020F0502020204030204" pitchFamily="34" charset="0"/>
              </a:rPr>
              <a:t>4.1.2  Rangement et nettoyage</a:t>
            </a:r>
          </a:p>
        </p:txBody>
      </p: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A3C15985-47C9-AE58-202A-C1004AAC6252}"/>
              </a:ext>
            </a:extLst>
          </p:cNvPr>
          <p:cNvCxnSpPr/>
          <p:nvPr/>
        </p:nvCxnSpPr>
        <p:spPr>
          <a:xfrm>
            <a:off x="11404600" y="34925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 : coins arrondis 81">
            <a:extLst>
              <a:ext uri="{FF2B5EF4-FFF2-40B4-BE49-F238E27FC236}">
                <a16:creationId xmlns:a16="http://schemas.microsoft.com/office/drawing/2014/main" id="{BAB717BC-C16E-214E-87AF-5BE9B2DE8E18}"/>
              </a:ext>
            </a:extLst>
          </p:cNvPr>
          <p:cNvSpPr/>
          <p:nvPr/>
        </p:nvSpPr>
        <p:spPr>
          <a:xfrm>
            <a:off x="11582400" y="37973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4.1.3  Signalétique et places de parc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D8251FBD-5A27-3B17-A3B1-DFB528D03E54}"/>
              </a:ext>
            </a:extLst>
          </p:cNvPr>
          <p:cNvCxnSpPr/>
          <p:nvPr/>
        </p:nvCxnSpPr>
        <p:spPr>
          <a:xfrm>
            <a:off x="11404600" y="40386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AC0ACB41-46C0-4102-2CD4-D3BF332E63BB}"/>
              </a:ext>
            </a:extLst>
          </p:cNvPr>
          <p:cNvCxnSpPr/>
          <p:nvPr/>
        </p:nvCxnSpPr>
        <p:spPr>
          <a:xfrm>
            <a:off x="11404600" y="2628900"/>
            <a:ext cx="0" cy="14097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 : coins arrondis 84">
            <a:extLst>
              <a:ext uri="{FF2B5EF4-FFF2-40B4-BE49-F238E27FC236}">
                <a16:creationId xmlns:a16="http://schemas.microsoft.com/office/drawing/2014/main" id="{7C02B457-6273-44D8-86CF-03D5A1D1D6C6}"/>
              </a:ext>
            </a:extLst>
          </p:cNvPr>
          <p:cNvSpPr/>
          <p:nvPr/>
        </p:nvSpPr>
        <p:spPr>
          <a:xfrm>
            <a:off x="11226800" y="43434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4.2  Matériel  (2 j)</a:t>
            </a:r>
          </a:p>
        </p:txBody>
      </p: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C46B7006-371A-A8C4-E91A-DFF4D6763D05}"/>
              </a:ext>
            </a:extLst>
          </p:cNvPr>
          <p:cNvCxnSpPr/>
          <p:nvPr/>
        </p:nvCxnSpPr>
        <p:spPr>
          <a:xfrm>
            <a:off x="11049000" y="45466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 : coins arrondis 86">
            <a:extLst>
              <a:ext uri="{FF2B5EF4-FFF2-40B4-BE49-F238E27FC236}">
                <a16:creationId xmlns:a16="http://schemas.microsoft.com/office/drawing/2014/main" id="{77AF68DC-B88A-31A9-733E-677FB974D94E}"/>
              </a:ext>
            </a:extLst>
          </p:cNvPr>
          <p:cNvSpPr/>
          <p:nvPr/>
        </p:nvSpPr>
        <p:spPr>
          <a:xfrm>
            <a:off x="11582400" y="48260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4.2.1  Matériel IT (écrans, PC de démo, Wi-Fi invités)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88" name="Connecteur droit 87">
            <a:extLst>
              <a:ext uri="{FF2B5EF4-FFF2-40B4-BE49-F238E27FC236}">
                <a16:creationId xmlns:a16="http://schemas.microsoft.com/office/drawing/2014/main" id="{343680CA-1366-2E25-0884-2BD48F01EFED}"/>
              </a:ext>
            </a:extLst>
          </p:cNvPr>
          <p:cNvCxnSpPr/>
          <p:nvPr/>
        </p:nvCxnSpPr>
        <p:spPr>
          <a:xfrm>
            <a:off x="11404600" y="50673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EFAD3484-5186-A92E-63B5-4BC4949C2A11}"/>
              </a:ext>
            </a:extLst>
          </p:cNvPr>
          <p:cNvSpPr/>
          <p:nvPr/>
        </p:nvSpPr>
        <p:spPr>
          <a:xfrm>
            <a:off x="11582400" y="53721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950">
                <a:solidFill>
                  <a:srgbClr val="000000"/>
                </a:solidFill>
                <a:latin typeface="Calibri" panose="020F0502020204030204" pitchFamily="34" charset="0"/>
              </a:rPr>
              <a:t>4.2.2  Mobilier et sonorisation</a:t>
            </a:r>
          </a:p>
        </p:txBody>
      </p:sp>
      <p:cxnSp>
        <p:nvCxnSpPr>
          <p:cNvPr id="90" name="Connecteur droit 89">
            <a:extLst>
              <a:ext uri="{FF2B5EF4-FFF2-40B4-BE49-F238E27FC236}">
                <a16:creationId xmlns:a16="http://schemas.microsoft.com/office/drawing/2014/main" id="{65AE01C7-2593-E91A-5C45-D1A71AAAFC19}"/>
              </a:ext>
            </a:extLst>
          </p:cNvPr>
          <p:cNvCxnSpPr/>
          <p:nvPr/>
        </p:nvCxnSpPr>
        <p:spPr>
          <a:xfrm>
            <a:off x="11404600" y="5613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762828F6-2085-4867-D5A0-5B5CAF6A670D}"/>
              </a:ext>
            </a:extLst>
          </p:cNvPr>
          <p:cNvCxnSpPr/>
          <p:nvPr/>
        </p:nvCxnSpPr>
        <p:spPr>
          <a:xfrm>
            <a:off x="11404600" y="47498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 : coins arrondis 91">
            <a:extLst>
              <a:ext uri="{FF2B5EF4-FFF2-40B4-BE49-F238E27FC236}">
                <a16:creationId xmlns:a16="http://schemas.microsoft.com/office/drawing/2014/main" id="{BE491C48-B158-4902-E7D7-AFEE8AF0D78D}"/>
              </a:ext>
            </a:extLst>
          </p:cNvPr>
          <p:cNvSpPr/>
          <p:nvPr/>
        </p:nvSpPr>
        <p:spPr>
          <a:xfrm>
            <a:off x="11226800" y="59182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4.3  Restauration  (0,75 j)</a:t>
            </a:r>
          </a:p>
        </p:txBody>
      </p: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D6733172-3181-3117-C5C1-BCF2D4E01E13}"/>
              </a:ext>
            </a:extLst>
          </p:cNvPr>
          <p:cNvCxnSpPr/>
          <p:nvPr/>
        </p:nvCxnSpPr>
        <p:spPr>
          <a:xfrm>
            <a:off x="11049000" y="6121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 : coins arrondis 93">
            <a:extLst>
              <a:ext uri="{FF2B5EF4-FFF2-40B4-BE49-F238E27FC236}">
                <a16:creationId xmlns:a16="http://schemas.microsoft.com/office/drawing/2014/main" id="{90F22090-3550-7DDC-BCE5-3C2E779E6C32}"/>
              </a:ext>
            </a:extLst>
          </p:cNvPr>
          <p:cNvSpPr/>
          <p:nvPr/>
        </p:nvSpPr>
        <p:spPr>
          <a:xfrm>
            <a:off x="11582400" y="64008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4.3.1  Demande de devis et choix du traiteur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FD0ECAE0-0209-BDE0-B657-BA705B376757}"/>
              </a:ext>
            </a:extLst>
          </p:cNvPr>
          <p:cNvCxnSpPr/>
          <p:nvPr/>
        </p:nvCxnSpPr>
        <p:spPr>
          <a:xfrm>
            <a:off x="11404600" y="66421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 : coins arrondis 95">
            <a:extLst>
              <a:ext uri="{FF2B5EF4-FFF2-40B4-BE49-F238E27FC236}">
                <a16:creationId xmlns:a16="http://schemas.microsoft.com/office/drawing/2014/main" id="{206A40E1-A909-10C4-7A87-22659A9B07FD}"/>
              </a:ext>
            </a:extLst>
          </p:cNvPr>
          <p:cNvSpPr/>
          <p:nvPr/>
        </p:nvSpPr>
        <p:spPr>
          <a:xfrm>
            <a:off x="11582400" y="69469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4.3.2  Commande définitive (selon inscrits)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2FC85452-E654-9E5C-31A7-0393024F1AA3}"/>
              </a:ext>
            </a:extLst>
          </p:cNvPr>
          <p:cNvCxnSpPr/>
          <p:nvPr/>
        </p:nvCxnSpPr>
        <p:spPr>
          <a:xfrm>
            <a:off x="11404600" y="71882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86CEA7FD-45D8-6509-F7DC-74E93B268D77}"/>
              </a:ext>
            </a:extLst>
          </p:cNvPr>
          <p:cNvCxnSpPr/>
          <p:nvPr/>
        </p:nvCxnSpPr>
        <p:spPr>
          <a:xfrm>
            <a:off x="11404600" y="63246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 : coins arrondis 98">
            <a:extLst>
              <a:ext uri="{FF2B5EF4-FFF2-40B4-BE49-F238E27FC236}">
                <a16:creationId xmlns:a16="http://schemas.microsoft.com/office/drawing/2014/main" id="{55BA0CD3-E3D0-ADA2-4CDF-25530832674B}"/>
              </a:ext>
            </a:extLst>
          </p:cNvPr>
          <p:cNvSpPr/>
          <p:nvPr/>
        </p:nvSpPr>
        <p:spPr>
          <a:xfrm>
            <a:off x="11226800" y="74930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4.4  Sécurité  (0,75 j)</a:t>
            </a:r>
          </a:p>
        </p:txBody>
      </p:sp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C429831D-D7E8-D563-54B7-6359F8697CF7}"/>
              </a:ext>
            </a:extLst>
          </p:cNvPr>
          <p:cNvCxnSpPr/>
          <p:nvPr/>
        </p:nvCxnSpPr>
        <p:spPr>
          <a:xfrm>
            <a:off x="11049000" y="76962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 : coins arrondis 100">
            <a:extLst>
              <a:ext uri="{FF2B5EF4-FFF2-40B4-BE49-F238E27FC236}">
                <a16:creationId xmlns:a16="http://schemas.microsoft.com/office/drawing/2014/main" id="{9A433317-97DB-5C74-F411-FE8F950A245D}"/>
              </a:ext>
            </a:extLst>
          </p:cNvPr>
          <p:cNvSpPr/>
          <p:nvPr/>
        </p:nvSpPr>
        <p:spPr>
          <a:xfrm>
            <a:off x="11582400" y="79756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4.4.1  Plan d'évacuation et premiers secours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21119BAC-492F-18F1-63E4-ED6779F05E5E}"/>
              </a:ext>
            </a:extLst>
          </p:cNvPr>
          <p:cNvCxnSpPr/>
          <p:nvPr/>
        </p:nvCxnSpPr>
        <p:spPr>
          <a:xfrm>
            <a:off x="11404600" y="82169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ectangle : coins arrondis 102">
            <a:extLst>
              <a:ext uri="{FF2B5EF4-FFF2-40B4-BE49-F238E27FC236}">
                <a16:creationId xmlns:a16="http://schemas.microsoft.com/office/drawing/2014/main" id="{954CCB88-7319-7425-2BD1-8506770E6BB8}"/>
              </a:ext>
            </a:extLst>
          </p:cNvPr>
          <p:cNvSpPr/>
          <p:nvPr/>
        </p:nvSpPr>
        <p:spPr>
          <a:xfrm>
            <a:off x="11582400" y="85217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4.4.2  Vérification de l'assurance pour l'événement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53AE3CCF-78B7-6192-1C1D-C944D9F5F79C}"/>
              </a:ext>
            </a:extLst>
          </p:cNvPr>
          <p:cNvCxnSpPr/>
          <p:nvPr/>
        </p:nvCxnSpPr>
        <p:spPr>
          <a:xfrm>
            <a:off x="11404600" y="87630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eur droit 104">
            <a:extLst>
              <a:ext uri="{FF2B5EF4-FFF2-40B4-BE49-F238E27FC236}">
                <a16:creationId xmlns:a16="http://schemas.microsoft.com/office/drawing/2014/main" id="{E2DA2EBD-11D1-9ED7-727B-D1CF1C2EE318}"/>
              </a:ext>
            </a:extLst>
          </p:cNvPr>
          <p:cNvCxnSpPr/>
          <p:nvPr/>
        </p:nvCxnSpPr>
        <p:spPr>
          <a:xfrm>
            <a:off x="11404600" y="78994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56326692-FFB0-DBFC-D08F-F3605459C44C}"/>
              </a:ext>
            </a:extLst>
          </p:cNvPr>
          <p:cNvCxnSpPr/>
          <p:nvPr/>
        </p:nvCxnSpPr>
        <p:spPr>
          <a:xfrm>
            <a:off x="11049000" y="2032000"/>
            <a:ext cx="0" cy="56642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95D35E3B-BFC2-689C-6C53-3A4750403D2D}"/>
              </a:ext>
            </a:extLst>
          </p:cNvPr>
          <p:cNvCxnSpPr/>
          <p:nvPr/>
        </p:nvCxnSpPr>
        <p:spPr>
          <a:xfrm>
            <a:off x="16027400" y="1143000"/>
            <a:ext cx="0" cy="2540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 : coins arrondis 107">
            <a:extLst>
              <a:ext uri="{FF2B5EF4-FFF2-40B4-BE49-F238E27FC236}">
                <a16:creationId xmlns:a16="http://schemas.microsoft.com/office/drawing/2014/main" id="{E89744D1-6570-2594-69E8-9D86A097F159}"/>
              </a:ext>
            </a:extLst>
          </p:cNvPr>
          <p:cNvSpPr/>
          <p:nvPr/>
        </p:nvSpPr>
        <p:spPr>
          <a:xfrm>
            <a:off x="14401800" y="1397000"/>
            <a:ext cx="3251200" cy="635000"/>
          </a:xfrm>
          <a:prstGeom prst="roundRect">
            <a:avLst>
              <a:gd name="adj" fmla="val 12000"/>
            </a:avLst>
          </a:prstGeom>
          <a:solidFill>
            <a:srgbClr val="3B78B5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Calibri" panose="020F0502020204030204" pitchFamily="34" charset="0"/>
              </a:rPr>
              <a:t>5. Jour J
4,25 j</a:t>
            </a:r>
            <a:endParaRPr lang="fr-CH" sz="1200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09" name="Rectangle : coins arrondis 108">
            <a:extLst>
              <a:ext uri="{FF2B5EF4-FFF2-40B4-BE49-F238E27FC236}">
                <a16:creationId xmlns:a16="http://schemas.microsoft.com/office/drawing/2014/main" id="{FD76FF1D-DB98-C104-92C1-5AB8DF39D2A4}"/>
              </a:ext>
            </a:extLst>
          </p:cNvPr>
          <p:cNvSpPr/>
          <p:nvPr/>
        </p:nvSpPr>
        <p:spPr>
          <a:xfrm>
            <a:off x="14732000" y="22225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5.1  Préparation  (1,5 j)</a:t>
            </a:r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5CB626B5-263B-9744-5C40-4E7B4E3506D8}"/>
              </a:ext>
            </a:extLst>
          </p:cNvPr>
          <p:cNvCxnSpPr/>
          <p:nvPr/>
        </p:nvCxnSpPr>
        <p:spPr>
          <a:xfrm>
            <a:off x="14554200" y="24257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 : coins arrondis 110">
            <a:extLst>
              <a:ext uri="{FF2B5EF4-FFF2-40B4-BE49-F238E27FC236}">
                <a16:creationId xmlns:a16="http://schemas.microsoft.com/office/drawing/2014/main" id="{8DAADEA5-B0AC-A1C6-90B4-00258C0DD2EC}"/>
              </a:ext>
            </a:extLst>
          </p:cNvPr>
          <p:cNvSpPr/>
          <p:nvPr/>
        </p:nvSpPr>
        <p:spPr>
          <a:xfrm>
            <a:off x="15087600" y="27051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950">
                <a:solidFill>
                  <a:srgbClr val="000000"/>
                </a:solidFill>
                <a:latin typeface="Calibri" panose="020F0502020204030204" pitchFamily="34" charset="0"/>
              </a:rPr>
              <a:t>5.1.1  Répétition générale</a:t>
            </a:r>
          </a:p>
        </p:txBody>
      </p: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FD89142D-CA3E-6A07-B1CD-773C1307F3D8}"/>
              </a:ext>
            </a:extLst>
          </p:cNvPr>
          <p:cNvCxnSpPr/>
          <p:nvPr/>
        </p:nvCxnSpPr>
        <p:spPr>
          <a:xfrm>
            <a:off x="14909800" y="29464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 : coins arrondis 112">
            <a:extLst>
              <a:ext uri="{FF2B5EF4-FFF2-40B4-BE49-F238E27FC236}">
                <a16:creationId xmlns:a16="http://schemas.microsoft.com/office/drawing/2014/main" id="{CEA6FCFB-36BF-6919-40DA-CBAD47842F6E}"/>
              </a:ext>
            </a:extLst>
          </p:cNvPr>
          <p:cNvSpPr/>
          <p:nvPr/>
        </p:nvSpPr>
        <p:spPr>
          <a:xfrm>
            <a:off x="15087600" y="32512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950">
                <a:solidFill>
                  <a:srgbClr val="000000"/>
                </a:solidFill>
                <a:latin typeface="Calibri" panose="020F0502020204030204" pitchFamily="34" charset="0"/>
              </a:rPr>
              <a:t>5.1.2  Installation la veille</a:t>
            </a:r>
          </a:p>
        </p:txBody>
      </p: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98ADAA2B-275B-4EE3-9B25-2F2D0A8E263C}"/>
              </a:ext>
            </a:extLst>
          </p:cNvPr>
          <p:cNvCxnSpPr/>
          <p:nvPr/>
        </p:nvCxnSpPr>
        <p:spPr>
          <a:xfrm>
            <a:off x="14909800" y="34925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E8C7FF3D-676D-CA54-81CF-11AFF30720DD}"/>
              </a:ext>
            </a:extLst>
          </p:cNvPr>
          <p:cNvCxnSpPr/>
          <p:nvPr/>
        </p:nvCxnSpPr>
        <p:spPr>
          <a:xfrm>
            <a:off x="14909800" y="26289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Rectangle : coins arrondis 115">
            <a:extLst>
              <a:ext uri="{FF2B5EF4-FFF2-40B4-BE49-F238E27FC236}">
                <a16:creationId xmlns:a16="http://schemas.microsoft.com/office/drawing/2014/main" id="{93B5F38F-109D-41AB-5911-5BA9EBBC83CA}"/>
              </a:ext>
            </a:extLst>
          </p:cNvPr>
          <p:cNvSpPr/>
          <p:nvPr/>
        </p:nvSpPr>
        <p:spPr>
          <a:xfrm>
            <a:off x="14732000" y="37973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1050" b="1">
                <a:solidFill>
                  <a:srgbClr val="000000"/>
                </a:solidFill>
                <a:latin typeface="Calibri" panose="020F0502020204030204" pitchFamily="34" charset="0"/>
              </a:rPr>
              <a:t>5.2  Déroulement  (2 j)</a:t>
            </a:r>
          </a:p>
        </p:txBody>
      </p:sp>
      <p:cxnSp>
        <p:nvCxnSpPr>
          <p:cNvPr id="117" name="Connecteur droit 116">
            <a:extLst>
              <a:ext uri="{FF2B5EF4-FFF2-40B4-BE49-F238E27FC236}">
                <a16:creationId xmlns:a16="http://schemas.microsoft.com/office/drawing/2014/main" id="{173FDBD1-3173-F9E4-2B58-35B06AABFA02}"/>
              </a:ext>
            </a:extLst>
          </p:cNvPr>
          <p:cNvCxnSpPr/>
          <p:nvPr/>
        </p:nvCxnSpPr>
        <p:spPr>
          <a:xfrm>
            <a:off x="14554200" y="40005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ectangle : coins arrondis 117">
            <a:extLst>
              <a:ext uri="{FF2B5EF4-FFF2-40B4-BE49-F238E27FC236}">
                <a16:creationId xmlns:a16="http://schemas.microsoft.com/office/drawing/2014/main" id="{BF2A790A-ED0D-E42F-08DB-358E270063A0}"/>
              </a:ext>
            </a:extLst>
          </p:cNvPr>
          <p:cNvSpPr/>
          <p:nvPr/>
        </p:nvSpPr>
        <p:spPr>
          <a:xfrm>
            <a:off x="15087600" y="42799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950">
                <a:solidFill>
                  <a:srgbClr val="000000"/>
                </a:solidFill>
                <a:latin typeface="Calibri" panose="020F0502020204030204" pitchFamily="34" charset="0"/>
              </a:rPr>
              <a:t>5.2.1  Accueil des visiteurs</a:t>
            </a:r>
          </a:p>
        </p:txBody>
      </p: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B041EB9-1326-F07E-ED43-4AA6CEF14AD1}"/>
              </a:ext>
            </a:extLst>
          </p:cNvPr>
          <p:cNvCxnSpPr/>
          <p:nvPr/>
        </p:nvCxnSpPr>
        <p:spPr>
          <a:xfrm>
            <a:off x="14909800" y="45212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CBCEF09D-1E44-8461-814A-9FAF058B3113}"/>
              </a:ext>
            </a:extLst>
          </p:cNvPr>
          <p:cNvSpPr/>
          <p:nvPr/>
        </p:nvSpPr>
        <p:spPr>
          <a:xfrm>
            <a:off x="15087600" y="48260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5.2.2  Animation des stands et visites guidées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21" name="Connecteur droit 120">
            <a:extLst>
              <a:ext uri="{FF2B5EF4-FFF2-40B4-BE49-F238E27FC236}">
                <a16:creationId xmlns:a16="http://schemas.microsoft.com/office/drawing/2014/main" id="{E3FA65CC-42C8-6123-F6C1-DC3E8D8AA646}"/>
              </a:ext>
            </a:extLst>
          </p:cNvPr>
          <p:cNvCxnSpPr/>
          <p:nvPr/>
        </p:nvCxnSpPr>
        <p:spPr>
          <a:xfrm>
            <a:off x="14909800" y="50673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eur droit 121">
            <a:extLst>
              <a:ext uri="{FF2B5EF4-FFF2-40B4-BE49-F238E27FC236}">
                <a16:creationId xmlns:a16="http://schemas.microsoft.com/office/drawing/2014/main" id="{B1F0C318-C9FF-20FC-A75C-35471B88F93C}"/>
              </a:ext>
            </a:extLst>
          </p:cNvPr>
          <p:cNvCxnSpPr/>
          <p:nvPr/>
        </p:nvCxnSpPr>
        <p:spPr>
          <a:xfrm>
            <a:off x="14909800" y="42037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Rectangle : coins arrondis 122">
            <a:extLst>
              <a:ext uri="{FF2B5EF4-FFF2-40B4-BE49-F238E27FC236}">
                <a16:creationId xmlns:a16="http://schemas.microsoft.com/office/drawing/2014/main" id="{96039450-59F4-8167-694E-42664E52FA5F}"/>
              </a:ext>
            </a:extLst>
          </p:cNvPr>
          <p:cNvSpPr/>
          <p:nvPr/>
        </p:nvSpPr>
        <p:spPr>
          <a:xfrm>
            <a:off x="14732000" y="5372100"/>
            <a:ext cx="2921000" cy="406400"/>
          </a:xfrm>
          <a:prstGeom prst="roundRect">
            <a:avLst>
              <a:gd name="adj" fmla="val 12000"/>
            </a:avLst>
          </a:prstGeom>
          <a:solidFill>
            <a:srgbClr val="BDD7EE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1050" b="1">
                <a:solidFill>
                  <a:srgbClr val="000000"/>
                </a:solidFill>
                <a:latin typeface="Calibri" panose="020F0502020204030204" pitchFamily="34" charset="0"/>
              </a:rPr>
              <a:t>5.3  Après l'événement  (0,75 j)</a:t>
            </a:r>
            <a:endParaRPr lang="fr-CH" sz="1050" b="1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B00E7D0B-B622-2ED0-01DF-02A43160DB20}"/>
              </a:ext>
            </a:extLst>
          </p:cNvPr>
          <p:cNvCxnSpPr/>
          <p:nvPr/>
        </p:nvCxnSpPr>
        <p:spPr>
          <a:xfrm>
            <a:off x="14554200" y="55753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 : coins arrondis 124">
            <a:extLst>
              <a:ext uri="{FF2B5EF4-FFF2-40B4-BE49-F238E27FC236}">
                <a16:creationId xmlns:a16="http://schemas.microsoft.com/office/drawing/2014/main" id="{C7285400-15A2-D7F9-66B8-3AF8CBC45491}"/>
              </a:ext>
            </a:extLst>
          </p:cNvPr>
          <p:cNvSpPr/>
          <p:nvPr/>
        </p:nvSpPr>
        <p:spPr>
          <a:xfrm>
            <a:off x="15087600" y="58547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CH" sz="950">
                <a:solidFill>
                  <a:srgbClr val="000000"/>
                </a:solidFill>
                <a:latin typeface="Calibri" panose="020F0502020204030204" pitchFamily="34" charset="0"/>
              </a:rPr>
              <a:t>5.3.1  Démontage et rangement</a:t>
            </a:r>
          </a:p>
        </p:txBody>
      </p:sp>
      <p:cxnSp>
        <p:nvCxnSpPr>
          <p:cNvPr id="126" name="Connecteur droit 125">
            <a:extLst>
              <a:ext uri="{FF2B5EF4-FFF2-40B4-BE49-F238E27FC236}">
                <a16:creationId xmlns:a16="http://schemas.microsoft.com/office/drawing/2014/main" id="{0AE2B234-49CD-194E-1362-92DA0D1FF715}"/>
              </a:ext>
            </a:extLst>
          </p:cNvPr>
          <p:cNvCxnSpPr/>
          <p:nvPr/>
        </p:nvCxnSpPr>
        <p:spPr>
          <a:xfrm>
            <a:off x="14909800" y="60960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 : coins arrondis 126">
            <a:extLst>
              <a:ext uri="{FF2B5EF4-FFF2-40B4-BE49-F238E27FC236}">
                <a16:creationId xmlns:a16="http://schemas.microsoft.com/office/drawing/2014/main" id="{55ECC2EE-6C0B-CDFD-94C0-BF16AFA9235D}"/>
              </a:ext>
            </a:extLst>
          </p:cNvPr>
          <p:cNvSpPr/>
          <p:nvPr/>
        </p:nvSpPr>
        <p:spPr>
          <a:xfrm>
            <a:off x="15087600" y="6400800"/>
            <a:ext cx="2565400" cy="48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25400" rIns="63500" bIns="25400" rtlCol="0" anchor="ctr"/>
          <a:lstStyle/>
          <a:p>
            <a:r>
              <a:rPr lang="fr-FR" sz="950">
                <a:solidFill>
                  <a:srgbClr val="000000"/>
                </a:solidFill>
                <a:latin typeface="Calibri" panose="020F0502020204030204" pitchFamily="34" charset="0"/>
              </a:rPr>
              <a:t>5.3.2  Message de remerciement aux visiteurs</a:t>
            </a:r>
            <a:endParaRPr lang="fr-CH" sz="95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28" name="Connecteur droit 127">
            <a:extLst>
              <a:ext uri="{FF2B5EF4-FFF2-40B4-BE49-F238E27FC236}">
                <a16:creationId xmlns:a16="http://schemas.microsoft.com/office/drawing/2014/main" id="{D3B6CB4B-CCD0-E9D8-81EE-F2C8025B7B05}"/>
              </a:ext>
            </a:extLst>
          </p:cNvPr>
          <p:cNvCxnSpPr/>
          <p:nvPr/>
        </p:nvCxnSpPr>
        <p:spPr>
          <a:xfrm>
            <a:off x="14909800" y="6642100"/>
            <a:ext cx="177800" cy="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eur droit 128">
            <a:extLst>
              <a:ext uri="{FF2B5EF4-FFF2-40B4-BE49-F238E27FC236}">
                <a16:creationId xmlns:a16="http://schemas.microsoft.com/office/drawing/2014/main" id="{4C5B9ECC-F084-96B8-4584-65FA7AB4CEE0}"/>
              </a:ext>
            </a:extLst>
          </p:cNvPr>
          <p:cNvCxnSpPr/>
          <p:nvPr/>
        </p:nvCxnSpPr>
        <p:spPr>
          <a:xfrm>
            <a:off x="14909800" y="5778500"/>
            <a:ext cx="0" cy="8636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eur droit 129">
            <a:extLst>
              <a:ext uri="{FF2B5EF4-FFF2-40B4-BE49-F238E27FC236}">
                <a16:creationId xmlns:a16="http://schemas.microsoft.com/office/drawing/2014/main" id="{0B549640-C9F6-361F-B53C-60A1B93B43D9}"/>
              </a:ext>
            </a:extLst>
          </p:cNvPr>
          <p:cNvCxnSpPr/>
          <p:nvPr/>
        </p:nvCxnSpPr>
        <p:spPr>
          <a:xfrm>
            <a:off x="14554200" y="2032000"/>
            <a:ext cx="0" cy="3543300"/>
          </a:xfrm>
          <a:prstGeom prst="line">
            <a:avLst/>
          </a:prstGeom>
          <a:ln w="15875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ZoneTexte 130">
            <a:extLst>
              <a:ext uri="{FF2B5EF4-FFF2-40B4-BE49-F238E27FC236}">
                <a16:creationId xmlns:a16="http://schemas.microsoft.com/office/drawing/2014/main" id="{57DA3FDD-39CF-A062-9F87-6F24E9290926}"/>
              </a:ext>
            </a:extLst>
          </p:cNvPr>
          <p:cNvSpPr txBox="1"/>
          <p:nvPr/>
        </p:nvSpPr>
        <p:spPr>
          <a:xfrm>
            <a:off x="381000" y="9842500"/>
            <a:ext cx="17526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000">
                <a:solidFill>
                  <a:srgbClr val="808080"/>
                </a:solidFill>
                <a:latin typeface="Calibri" panose="020F0502020204030204" pitchFamily="34" charset="0"/>
              </a:rPr>
              <a:t>WBS - Journée portes ouvertes  |  De Sousa Nunes Alessandro - CFC 3  |  niveau 1 = parties, niveau 2 = sous-parties, niveau 3 = lots de travail (charges en jours)</a:t>
            </a:r>
            <a:endParaRPr lang="fr-CH" sz="1000">
              <a:solidFill>
                <a:srgbClr val="80808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979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Personnalisé</PresentationFormat>
  <Paragraphs>55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Nunes</dc:creator>
  <cp:lastModifiedBy>Alessandro Nunes</cp:lastModifiedBy>
  <cp:revision>1</cp:revision>
  <dcterms:created xsi:type="dcterms:W3CDTF">2026-10-14T09:31:24Z</dcterms:created>
  <dcterms:modified xsi:type="dcterms:W3CDTF">2026-10-14T09:31:24Z</dcterms:modified>
</cp:coreProperties>
</file>