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7272000" cy="812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0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5748F-6A2C-D184-F7D3-10602A56B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9000" y="1330208"/>
            <a:ext cx="12954000" cy="282974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5007504-828F-440E-2372-5CF90BC2C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9000" y="4269082"/>
            <a:ext cx="12954000" cy="19623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FD8307-0D8A-5580-46CF-82DBCFCB5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F464-8AA1-423E-971A-ABDF9ECD4179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A335CE-182C-FE9A-9DD4-E5079474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F0A157-EDC9-7ECF-0563-D56A1E0B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B7A9-CA93-4927-9231-D60FF19715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14893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0F2581-4344-15AC-F296-BF2E197B2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661046-5ADD-816E-FED4-FD1D78442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48600E-5664-C1A8-818A-93DFC16A3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F464-8AA1-423E-971A-ABDF9ECD4179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FCD1BB-E39E-0BC5-1721-738728D0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1A9A20-3D84-A636-9820-E7FCC495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B7A9-CA93-4927-9231-D60FF19715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40511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CBAF42-6323-F104-D5A8-D79E2C7E6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454" y="2026358"/>
            <a:ext cx="14897100" cy="338102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4FC671-8DA1-FBEA-A90F-E81B619AD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8454" y="5439366"/>
            <a:ext cx="14897100" cy="1777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09A352-B982-8A63-B34E-F24A829F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F464-8AA1-423E-971A-ABDF9ECD4179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6893CE-D336-8D23-823B-F2096AD2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D50CA8-3F51-B46A-F1BE-D63617F0F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B7A9-CA93-4927-9231-D60FF19715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46846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658FA6-9814-6322-AC56-517F6C950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965808-ACBC-A52A-D120-142B3F457A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7450" y="2163704"/>
            <a:ext cx="7340600" cy="51571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60B7EA5-05C1-2989-6B30-747E63987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43950" y="2163704"/>
            <a:ext cx="7340600" cy="51571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F4FE20-2B0A-2492-D394-C8D8D1AE0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F464-8AA1-423E-971A-ABDF9ECD4179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7F2B448-ABE3-BA57-960C-E72F793E4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1717C4-EF86-7C72-B00C-E419B57E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B7A9-CA93-4927-9231-D60FF19715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6566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8D769B-E5E6-8B53-6D0C-BAECA26F1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0" y="432742"/>
            <a:ext cx="14897100" cy="15710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BD4C8F-A676-C861-6B75-C10D3A8F4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9701" y="1992490"/>
            <a:ext cx="7306865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BCFA21A-3E64-1B56-8193-BC612FF59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9701" y="2968978"/>
            <a:ext cx="7306865" cy="43669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30BF378-6CCA-E20E-AA35-269A3421BF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43950" y="1992490"/>
            <a:ext cx="7342850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A777518-9884-7AAB-B1E2-1E8A2B7A6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43950" y="2968978"/>
            <a:ext cx="7342850" cy="43669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E18840C-3E35-BFA1-A5B8-AA0E80135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F464-8AA1-423E-971A-ABDF9ECD4179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742A6C5-C1CB-A384-71D7-F5242DCD8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2F2CDF-6F54-6D7B-CBA8-AFBB1DAEA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B7A9-CA93-4927-9231-D60FF19715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599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F5544D-A674-809B-A93B-88BEE947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C3FB4DA-BAF0-A955-92D4-6377B63FE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F464-8AA1-423E-971A-ABDF9ECD4179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D601CA6-F7B1-B4E8-2870-D253B8993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D8343A5-E585-5C7C-55CB-D5DF70727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B7A9-CA93-4927-9231-D60FF19715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6620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5098ED5-1461-811C-2A91-3F30A5D85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F464-8AA1-423E-971A-ABDF9ECD4179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6AB87E5-9CEE-04D5-E47D-4AD718A35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0B92B5-D4F0-04AF-0B6C-DD4869A3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B7A9-CA93-4927-9231-D60FF19715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28610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91DD79-56A4-B29E-B64D-C697DA470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1" y="541867"/>
            <a:ext cx="5570669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BB5470-73A4-DCAD-540E-5DD8313DA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2850" y="1170283"/>
            <a:ext cx="8743950" cy="57761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BBAB509-862C-D532-548A-9B71C21D0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89701" y="2438400"/>
            <a:ext cx="5570669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7B59BEC-4045-A38F-A3CC-68E9FDE9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F464-8AA1-423E-971A-ABDF9ECD4179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293CA9-D061-DFA4-A82D-F7345BC74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9ABF7E-389F-3180-2C48-C3DD2207B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B7A9-CA93-4927-9231-D60FF19715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95002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387866-6456-820F-8C5D-305D11AD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1" y="541867"/>
            <a:ext cx="5570669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20BE215-0AA6-6C4C-6F51-3AA96F32F1A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342850" y="1170283"/>
            <a:ext cx="8743950" cy="57761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B12D05-AD0B-3CF1-E6C9-66AD91446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89701" y="2438400"/>
            <a:ext cx="5570669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21A0B0-CCF0-FE8A-8FDC-3FFF552E6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F464-8AA1-423E-971A-ABDF9ECD4179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37DD8D-E9CC-182B-644A-49492501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88B473-F76B-F816-375C-37F0A752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B7A9-CA93-4927-9231-D60FF19715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8887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F7BC6F-2B0F-C615-CB0F-7744FF6FD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FDB93D-C35E-3CA2-CB79-49BDD2003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EA5FB7-0C26-8943-AA07-CAD138679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F464-8AA1-423E-971A-ABDF9ECD4179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CCC066-AA87-A348-1648-B3D7498E6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3F3D9A-6496-6055-D423-312FD01C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B7A9-CA93-4927-9231-D60FF19715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5516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E1FBB1-05BB-640C-8429-39A393DADA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360276" y="432741"/>
            <a:ext cx="3724275" cy="688810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82A707-7135-6A92-2460-C14970572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7451" y="432741"/>
            <a:ext cx="10956925" cy="688810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A1536E-F8D2-B2AD-0376-63104C2FA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F464-8AA1-423E-971A-ABDF9ECD4179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C3039B-6CCC-AAB6-4BE4-8BD87CE7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8DAC6B-C798-6BDE-B5A1-2A7341F3F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B7A9-CA93-4927-9231-D60FF19715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95174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C060306-F8FC-4831-7715-6682AB13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432742"/>
            <a:ext cx="14897100" cy="1571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0E8667-1611-7FA7-FEA8-342FD537B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7450" y="2163704"/>
            <a:ext cx="14897100" cy="5157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D535F1-A1C5-7253-8B8F-3009C467A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87450" y="7533454"/>
            <a:ext cx="3886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4F464-8AA1-423E-971A-ABDF9ECD4179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DDFD43-4004-23FC-E46F-B0F642A11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21350" y="7533454"/>
            <a:ext cx="58293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5C4185-47F6-D80B-2C1D-17C4D3FF5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98350" y="7533454"/>
            <a:ext cx="3886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CB7A9-CA93-4927-9231-D60FF19715E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4958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25D9F85F-6B22-0455-F336-F7435D3F1CB0}"/>
              </a:ext>
            </a:extLst>
          </p:cNvPr>
          <p:cNvCxnSpPr/>
          <p:nvPr/>
        </p:nvCxnSpPr>
        <p:spPr>
          <a:xfrm>
            <a:off x="6350000" y="5842000"/>
            <a:ext cx="304800" cy="0"/>
          </a:xfrm>
          <a:prstGeom prst="line">
            <a:avLst/>
          </a:prstGeom>
          <a:ln w="19050">
            <a:solidFill>
              <a:srgbClr val="3B78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3F6BBBC-F49D-4680-ED4A-37E4207CC4E4}"/>
              </a:ext>
            </a:extLst>
          </p:cNvPr>
          <p:cNvCxnSpPr/>
          <p:nvPr/>
        </p:nvCxnSpPr>
        <p:spPr>
          <a:xfrm>
            <a:off x="4292600" y="3937000"/>
            <a:ext cx="304800" cy="1905000"/>
          </a:xfrm>
          <a:prstGeom prst="line">
            <a:avLst/>
          </a:prstGeom>
          <a:ln w="19050">
            <a:solidFill>
              <a:srgbClr val="3B78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CEAE0F3-FE30-9D2A-D3C9-261AF020E003}"/>
              </a:ext>
            </a:extLst>
          </p:cNvPr>
          <p:cNvCxnSpPr/>
          <p:nvPr/>
        </p:nvCxnSpPr>
        <p:spPr>
          <a:xfrm flipV="1">
            <a:off x="8407400" y="3937000"/>
            <a:ext cx="304800" cy="1905000"/>
          </a:xfrm>
          <a:prstGeom prst="line">
            <a:avLst/>
          </a:prstGeom>
          <a:ln w="19050">
            <a:solidFill>
              <a:srgbClr val="3B78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D2C37837-B1AC-BB89-75EF-4EF06127148A}"/>
              </a:ext>
            </a:extLst>
          </p:cNvPr>
          <p:cNvCxnSpPr/>
          <p:nvPr/>
        </p:nvCxnSpPr>
        <p:spPr>
          <a:xfrm>
            <a:off x="8407400" y="2032000"/>
            <a:ext cx="304800" cy="1905000"/>
          </a:xfrm>
          <a:prstGeom prst="line">
            <a:avLst/>
          </a:prstGeom>
          <a:ln w="34925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6EF6BF4-2456-866E-1424-662CA61E4891}"/>
              </a:ext>
            </a:extLst>
          </p:cNvPr>
          <p:cNvCxnSpPr/>
          <p:nvPr/>
        </p:nvCxnSpPr>
        <p:spPr>
          <a:xfrm>
            <a:off x="6350000" y="2032000"/>
            <a:ext cx="304800" cy="0"/>
          </a:xfrm>
          <a:prstGeom prst="line">
            <a:avLst/>
          </a:prstGeom>
          <a:ln w="34925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6C7740E-C9B8-963C-283E-C9F56168EC8D}"/>
              </a:ext>
            </a:extLst>
          </p:cNvPr>
          <p:cNvCxnSpPr/>
          <p:nvPr/>
        </p:nvCxnSpPr>
        <p:spPr>
          <a:xfrm>
            <a:off x="2235200" y="3937000"/>
            <a:ext cx="304800" cy="0"/>
          </a:xfrm>
          <a:prstGeom prst="line">
            <a:avLst/>
          </a:prstGeom>
          <a:ln w="34925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8BB41F1-0CB0-D142-4718-713F840BDA96}"/>
              </a:ext>
            </a:extLst>
          </p:cNvPr>
          <p:cNvCxnSpPr/>
          <p:nvPr/>
        </p:nvCxnSpPr>
        <p:spPr>
          <a:xfrm>
            <a:off x="10464800" y="3937000"/>
            <a:ext cx="304800" cy="1905000"/>
          </a:xfrm>
          <a:prstGeom prst="line">
            <a:avLst/>
          </a:prstGeom>
          <a:ln w="19050">
            <a:solidFill>
              <a:srgbClr val="3B78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F8B6D9C-B17F-70FF-6F94-E47B8E1564FE}"/>
              </a:ext>
            </a:extLst>
          </p:cNvPr>
          <p:cNvCxnSpPr/>
          <p:nvPr/>
        </p:nvCxnSpPr>
        <p:spPr>
          <a:xfrm>
            <a:off x="14579600" y="3937000"/>
            <a:ext cx="304800" cy="0"/>
          </a:xfrm>
          <a:prstGeom prst="line">
            <a:avLst/>
          </a:prstGeom>
          <a:ln w="34925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5D9D17D8-2AD2-424C-D625-76A37E3F0D7D}"/>
              </a:ext>
            </a:extLst>
          </p:cNvPr>
          <p:cNvCxnSpPr/>
          <p:nvPr/>
        </p:nvCxnSpPr>
        <p:spPr>
          <a:xfrm flipV="1">
            <a:off x="10464800" y="2032000"/>
            <a:ext cx="304800" cy="1905000"/>
          </a:xfrm>
          <a:prstGeom prst="line">
            <a:avLst/>
          </a:prstGeom>
          <a:ln w="34925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2AB5E9A-55A0-D5B7-F1B7-92DAA79729D6}"/>
              </a:ext>
            </a:extLst>
          </p:cNvPr>
          <p:cNvCxnSpPr/>
          <p:nvPr/>
        </p:nvCxnSpPr>
        <p:spPr>
          <a:xfrm flipV="1">
            <a:off x="4292600" y="2032000"/>
            <a:ext cx="304800" cy="1905000"/>
          </a:xfrm>
          <a:prstGeom prst="line">
            <a:avLst/>
          </a:prstGeom>
          <a:ln w="34925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E441941-6577-5146-7B87-9FF3F6FE6958}"/>
              </a:ext>
            </a:extLst>
          </p:cNvPr>
          <p:cNvCxnSpPr/>
          <p:nvPr/>
        </p:nvCxnSpPr>
        <p:spPr>
          <a:xfrm>
            <a:off x="12522200" y="2032000"/>
            <a:ext cx="304800" cy="1905000"/>
          </a:xfrm>
          <a:prstGeom prst="line">
            <a:avLst/>
          </a:prstGeom>
          <a:ln w="34925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6527C409-FB1C-4AB2-828D-76AEA570E103}"/>
              </a:ext>
            </a:extLst>
          </p:cNvPr>
          <p:cNvCxnSpPr/>
          <p:nvPr/>
        </p:nvCxnSpPr>
        <p:spPr>
          <a:xfrm flipV="1">
            <a:off x="12522200" y="3937000"/>
            <a:ext cx="304800" cy="1905000"/>
          </a:xfrm>
          <a:prstGeom prst="line">
            <a:avLst/>
          </a:prstGeom>
          <a:ln w="19050">
            <a:solidFill>
              <a:srgbClr val="3B78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E17D496-0A26-BC1E-C571-7C833DAA4EE1}"/>
              </a:ext>
            </a:extLst>
          </p:cNvPr>
          <p:cNvSpPr/>
          <p:nvPr/>
        </p:nvSpPr>
        <p:spPr>
          <a:xfrm>
            <a:off x="6680200" y="5207000"/>
            <a:ext cx="1727200" cy="330200"/>
          </a:xfrm>
          <a:prstGeom prst="rect">
            <a:avLst/>
          </a:prstGeom>
          <a:solidFill>
            <a:srgbClr val="3B78B5"/>
          </a:solidFill>
          <a:ln>
            <a:solidFill>
              <a:srgbClr val="3B7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rIns="38100" rtlCol="0" anchor="ctr"/>
          <a:lstStyle/>
          <a:p>
            <a:pPr algn="ctr"/>
            <a:r>
              <a:rPr lang="fr-CH" sz="1100" b="1">
                <a:solidFill>
                  <a:srgbClr val="FFFFFF"/>
                </a:solidFill>
                <a:latin typeface="Calibri" panose="020F0502020204030204" pitchFamily="34" charset="0"/>
              </a:rPr>
              <a:t>E - Back-end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93F41E-98E7-F7ED-873F-B21DE80638AF}"/>
              </a:ext>
            </a:extLst>
          </p:cNvPr>
          <p:cNvSpPr/>
          <p:nvPr/>
        </p:nvSpPr>
        <p:spPr>
          <a:xfrm>
            <a:off x="6680200" y="5537200"/>
            <a:ext cx="1727200" cy="93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7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bIns="25400" rtlCol="0" anchor="ctr"/>
          <a:lstStyle/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Durée : 8 j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tôt : 9 → 17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tard : 10 → 18</a:t>
            </a:r>
          </a:p>
          <a:p>
            <a:r>
              <a:rPr lang="fr-FR" sz="1050" b="1">
                <a:solidFill>
                  <a:srgbClr val="282828"/>
                </a:solidFill>
                <a:latin typeface="Calibri" panose="020F0502020204030204" pitchFamily="34" charset="0"/>
              </a:rPr>
              <a:t>Marge : 1 j</a:t>
            </a:r>
            <a:endParaRPr lang="fr-CH" sz="1050" b="1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82F357-175E-AFF4-EB63-32AAE1936460}"/>
              </a:ext>
            </a:extLst>
          </p:cNvPr>
          <p:cNvSpPr/>
          <p:nvPr/>
        </p:nvSpPr>
        <p:spPr>
          <a:xfrm>
            <a:off x="4622800" y="5207000"/>
            <a:ext cx="1727200" cy="330200"/>
          </a:xfrm>
          <a:prstGeom prst="rect">
            <a:avLst/>
          </a:prstGeom>
          <a:solidFill>
            <a:srgbClr val="3B78B5"/>
          </a:solidFill>
          <a:ln>
            <a:solidFill>
              <a:srgbClr val="3B7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rIns="38100" rtlCol="0" anchor="ctr"/>
          <a:lstStyle/>
          <a:p>
            <a:pPr algn="ctr"/>
            <a:r>
              <a:rPr lang="fr-CH" sz="1100" b="1">
                <a:solidFill>
                  <a:srgbClr val="FFFFFF"/>
                </a:solidFill>
                <a:latin typeface="Calibri" panose="020F0502020204030204" pitchFamily="34" charset="0"/>
              </a:rPr>
              <a:t>D - Modèle de données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5CC2A5-2C68-70A4-E876-74861EF8DCE3}"/>
              </a:ext>
            </a:extLst>
          </p:cNvPr>
          <p:cNvSpPr/>
          <p:nvPr/>
        </p:nvSpPr>
        <p:spPr>
          <a:xfrm>
            <a:off x="4622800" y="5537200"/>
            <a:ext cx="1727200" cy="93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7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bIns="25400" rtlCol="0" anchor="ctr"/>
          <a:lstStyle/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Durée : 3 j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tôt : 6 → 9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tard : 7 → 10</a:t>
            </a:r>
          </a:p>
          <a:p>
            <a:r>
              <a:rPr lang="fr-FR" sz="1050" b="1">
                <a:solidFill>
                  <a:srgbClr val="282828"/>
                </a:solidFill>
                <a:latin typeface="Calibri" panose="020F0502020204030204" pitchFamily="34" charset="0"/>
              </a:rPr>
              <a:t>Marge : 1 j</a:t>
            </a:r>
            <a:endParaRPr lang="fr-CH" sz="1050" b="1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0CF59A-42A8-CF8A-43C4-EDAC401748B6}"/>
              </a:ext>
            </a:extLst>
          </p:cNvPr>
          <p:cNvSpPr/>
          <p:nvPr/>
        </p:nvSpPr>
        <p:spPr>
          <a:xfrm>
            <a:off x="8737600" y="3302000"/>
            <a:ext cx="1727200" cy="330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rIns="38100" rtlCol="0" anchor="ctr"/>
          <a:lstStyle/>
          <a:p>
            <a:pPr algn="ctr"/>
            <a:r>
              <a:rPr lang="fr-CH" sz="1100" b="1">
                <a:solidFill>
                  <a:srgbClr val="FFFFFF"/>
                </a:solidFill>
                <a:latin typeface="Calibri" panose="020F0502020204030204" pitchFamily="34" charset="0"/>
              </a:rPr>
              <a:t>G - Intégration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4C9284-DECF-B948-3505-F1F8286638BF}"/>
              </a:ext>
            </a:extLst>
          </p:cNvPr>
          <p:cNvSpPr/>
          <p:nvPr/>
        </p:nvSpPr>
        <p:spPr>
          <a:xfrm>
            <a:off x="8737600" y="3632200"/>
            <a:ext cx="1727200" cy="939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bIns="25400" rtlCol="0" anchor="ctr"/>
          <a:lstStyle/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Durée : 3 j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tôt : 18 → 21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tard : 18 → 21</a:t>
            </a:r>
          </a:p>
          <a:p>
            <a:r>
              <a:rPr lang="fr-FR" sz="1050" b="1">
                <a:solidFill>
                  <a:srgbClr val="282828"/>
                </a:solidFill>
                <a:latin typeface="Calibri" panose="020F0502020204030204" pitchFamily="34" charset="0"/>
              </a:rPr>
              <a:t>Marge : 0 j</a:t>
            </a:r>
            <a:endParaRPr lang="fr-CH" sz="1050" b="1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1B1377-7A40-10CB-DA56-F9E30648D5C7}"/>
              </a:ext>
            </a:extLst>
          </p:cNvPr>
          <p:cNvSpPr/>
          <p:nvPr/>
        </p:nvSpPr>
        <p:spPr>
          <a:xfrm>
            <a:off x="6680200" y="1397000"/>
            <a:ext cx="1727200" cy="330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rIns="38100" rtlCol="0" anchor="ctr"/>
          <a:lstStyle/>
          <a:p>
            <a:pPr algn="ctr"/>
            <a:r>
              <a:rPr lang="fr-CH" sz="1100" b="1">
                <a:solidFill>
                  <a:srgbClr val="FFFFFF"/>
                </a:solidFill>
                <a:latin typeface="Calibri" panose="020F0502020204030204" pitchFamily="34" charset="0"/>
              </a:rPr>
              <a:t>F - Front-end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40794A-CF85-3367-E42E-A42ACCAD9750}"/>
              </a:ext>
            </a:extLst>
          </p:cNvPr>
          <p:cNvSpPr/>
          <p:nvPr/>
        </p:nvSpPr>
        <p:spPr>
          <a:xfrm>
            <a:off x="6680200" y="1727200"/>
            <a:ext cx="1727200" cy="939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bIns="25400" rtlCol="0" anchor="ctr"/>
          <a:lstStyle/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Durée : 7 j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tôt : 11 → 18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tard : 11 → 18</a:t>
            </a:r>
          </a:p>
          <a:p>
            <a:r>
              <a:rPr lang="fr-FR" sz="1050" b="1">
                <a:solidFill>
                  <a:srgbClr val="282828"/>
                </a:solidFill>
                <a:latin typeface="Calibri" panose="020F0502020204030204" pitchFamily="34" charset="0"/>
              </a:rPr>
              <a:t>Marge : 0 j</a:t>
            </a:r>
            <a:endParaRPr lang="fr-CH" sz="1050" b="1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937EA8-F310-4F94-0E24-5FD4DA9DFE5C}"/>
              </a:ext>
            </a:extLst>
          </p:cNvPr>
          <p:cNvSpPr/>
          <p:nvPr/>
        </p:nvSpPr>
        <p:spPr>
          <a:xfrm>
            <a:off x="2565400" y="3302000"/>
            <a:ext cx="1727200" cy="330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rIns="38100" rtlCol="0" anchor="ctr"/>
          <a:lstStyle/>
          <a:p>
            <a:pPr algn="ctr"/>
            <a:r>
              <a:rPr lang="fr-CH" sz="1100" b="1">
                <a:solidFill>
                  <a:srgbClr val="FFFFFF"/>
                </a:solidFill>
                <a:latin typeface="Calibri" panose="020F0502020204030204" pitchFamily="34" charset="0"/>
              </a:rPr>
              <a:t>B - Analyse des besoins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3A78A7-753D-CAD6-D2CF-A8BA97E62666}"/>
              </a:ext>
            </a:extLst>
          </p:cNvPr>
          <p:cNvSpPr/>
          <p:nvPr/>
        </p:nvSpPr>
        <p:spPr>
          <a:xfrm>
            <a:off x="2565400" y="3632200"/>
            <a:ext cx="1727200" cy="939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bIns="25400" rtlCol="0" anchor="ctr"/>
          <a:lstStyle/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Durée : 4 j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tôt : 2 → 6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tard : 2 → 6</a:t>
            </a:r>
          </a:p>
          <a:p>
            <a:r>
              <a:rPr lang="fr-FR" sz="1050" b="1">
                <a:solidFill>
                  <a:srgbClr val="282828"/>
                </a:solidFill>
                <a:latin typeface="Calibri" panose="020F0502020204030204" pitchFamily="34" charset="0"/>
              </a:rPr>
              <a:t>Marge : 0 j</a:t>
            </a:r>
            <a:endParaRPr lang="fr-CH" sz="1050" b="1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14317A-A039-7C17-A00A-342F15085F6E}"/>
              </a:ext>
            </a:extLst>
          </p:cNvPr>
          <p:cNvSpPr/>
          <p:nvPr/>
        </p:nvSpPr>
        <p:spPr>
          <a:xfrm>
            <a:off x="10795000" y="5207000"/>
            <a:ext cx="1727200" cy="330200"/>
          </a:xfrm>
          <a:prstGeom prst="rect">
            <a:avLst/>
          </a:prstGeom>
          <a:solidFill>
            <a:srgbClr val="3B78B5"/>
          </a:solidFill>
          <a:ln>
            <a:solidFill>
              <a:srgbClr val="3B7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rIns="38100" rtlCol="0" anchor="ctr"/>
          <a:lstStyle/>
          <a:p>
            <a:pPr algn="ctr"/>
            <a:r>
              <a:rPr lang="fr-CH" sz="1100" b="1">
                <a:solidFill>
                  <a:srgbClr val="FFFFFF"/>
                </a:solidFill>
                <a:latin typeface="Calibri" panose="020F0502020204030204" pitchFamily="34" charset="0"/>
              </a:rPr>
              <a:t>I - Documentation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49439-F11C-00A6-81B6-A46BCBF66E1A}"/>
              </a:ext>
            </a:extLst>
          </p:cNvPr>
          <p:cNvSpPr/>
          <p:nvPr/>
        </p:nvSpPr>
        <p:spPr>
          <a:xfrm>
            <a:off x="10795000" y="5537200"/>
            <a:ext cx="1727200" cy="93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7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bIns="25400" rtlCol="0" anchor="ctr"/>
          <a:lstStyle/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Durée : 3 j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tôt : 21 → 24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tard : 22 → 25</a:t>
            </a:r>
          </a:p>
          <a:p>
            <a:r>
              <a:rPr lang="fr-FR" sz="1050" b="1">
                <a:solidFill>
                  <a:srgbClr val="282828"/>
                </a:solidFill>
                <a:latin typeface="Calibri" panose="020F0502020204030204" pitchFamily="34" charset="0"/>
              </a:rPr>
              <a:t>Marge : 1 j</a:t>
            </a:r>
            <a:endParaRPr lang="fr-CH" sz="1050" b="1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650E6B-4570-3E98-E72B-11ECBD03B485}"/>
              </a:ext>
            </a:extLst>
          </p:cNvPr>
          <p:cNvSpPr/>
          <p:nvPr/>
        </p:nvSpPr>
        <p:spPr>
          <a:xfrm>
            <a:off x="14909800" y="3302000"/>
            <a:ext cx="1727200" cy="330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rIns="38100" rtlCol="0" anchor="ctr"/>
          <a:lstStyle/>
          <a:p>
            <a:pPr algn="ctr"/>
            <a:r>
              <a:rPr lang="fr-CH" sz="1100" b="1">
                <a:solidFill>
                  <a:srgbClr val="FFFFFF"/>
                </a:solidFill>
                <a:latin typeface="Calibri" panose="020F0502020204030204" pitchFamily="34" charset="0"/>
              </a:rPr>
              <a:t>K - Mise en production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CE908E-4626-D42C-2F8E-9A5AA918793A}"/>
              </a:ext>
            </a:extLst>
          </p:cNvPr>
          <p:cNvSpPr/>
          <p:nvPr/>
        </p:nvSpPr>
        <p:spPr>
          <a:xfrm>
            <a:off x="14909800" y="3632200"/>
            <a:ext cx="1727200" cy="939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bIns="25400" rtlCol="0" anchor="ctr"/>
          <a:lstStyle/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Durée : 1 j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tôt : 27 → 28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tard : 27 → 28</a:t>
            </a:r>
          </a:p>
          <a:p>
            <a:r>
              <a:rPr lang="fr-FR" sz="1050" b="1">
                <a:solidFill>
                  <a:srgbClr val="282828"/>
                </a:solidFill>
                <a:latin typeface="Calibri" panose="020F0502020204030204" pitchFamily="34" charset="0"/>
              </a:rPr>
              <a:t>Marge : 0 j</a:t>
            </a:r>
            <a:endParaRPr lang="fr-CH" sz="1050" b="1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D5C6F3-5B23-7E41-8966-AD8BEBD99334}"/>
              </a:ext>
            </a:extLst>
          </p:cNvPr>
          <p:cNvSpPr/>
          <p:nvPr/>
        </p:nvSpPr>
        <p:spPr>
          <a:xfrm>
            <a:off x="10795000" y="1397000"/>
            <a:ext cx="1727200" cy="330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rIns="38100" rtlCol="0" anchor="ctr"/>
          <a:lstStyle/>
          <a:p>
            <a:pPr algn="ctr"/>
            <a:r>
              <a:rPr lang="fr-CH" sz="1100" b="1">
                <a:solidFill>
                  <a:srgbClr val="FFFFFF"/>
                </a:solidFill>
                <a:latin typeface="Calibri" panose="020F0502020204030204" pitchFamily="34" charset="0"/>
              </a:rPr>
              <a:t>H - Tests et recette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216C6-B80D-CC4E-2738-60929E7BD7A8}"/>
              </a:ext>
            </a:extLst>
          </p:cNvPr>
          <p:cNvSpPr/>
          <p:nvPr/>
        </p:nvSpPr>
        <p:spPr>
          <a:xfrm>
            <a:off x="10795000" y="1727200"/>
            <a:ext cx="1727200" cy="939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bIns="25400" rtlCol="0" anchor="ctr"/>
          <a:lstStyle/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Durée : 4 j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tôt : 21 → 25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tard : 21 → 25</a:t>
            </a:r>
          </a:p>
          <a:p>
            <a:r>
              <a:rPr lang="fr-FR" sz="1050" b="1">
                <a:solidFill>
                  <a:srgbClr val="282828"/>
                </a:solidFill>
                <a:latin typeface="Calibri" panose="020F0502020204030204" pitchFamily="34" charset="0"/>
              </a:rPr>
              <a:t>Marge : 0 j</a:t>
            </a:r>
            <a:endParaRPr lang="fr-CH" sz="1050" b="1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04C630-DDD9-6379-589C-4DCAB295E4BC}"/>
              </a:ext>
            </a:extLst>
          </p:cNvPr>
          <p:cNvSpPr/>
          <p:nvPr/>
        </p:nvSpPr>
        <p:spPr>
          <a:xfrm>
            <a:off x="4622800" y="1397000"/>
            <a:ext cx="1727200" cy="330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rIns="38100" rtlCol="0" anchor="ctr"/>
          <a:lstStyle/>
          <a:p>
            <a:pPr algn="ctr"/>
            <a:r>
              <a:rPr lang="fr-CH" sz="1100" b="1">
                <a:solidFill>
                  <a:srgbClr val="FFFFFF"/>
                </a:solidFill>
                <a:latin typeface="Calibri" panose="020F0502020204030204" pitchFamily="34" charset="0"/>
              </a:rPr>
              <a:t>C - Maquettes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651B52-6AB8-4A67-3A1A-691AD41F5C3A}"/>
              </a:ext>
            </a:extLst>
          </p:cNvPr>
          <p:cNvSpPr/>
          <p:nvPr/>
        </p:nvSpPr>
        <p:spPr>
          <a:xfrm>
            <a:off x="4622800" y="1727200"/>
            <a:ext cx="1727200" cy="939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bIns="25400" rtlCol="0" anchor="ctr"/>
          <a:lstStyle/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Durée : 5 j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tôt : 6 → 11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tard : 6 → 11</a:t>
            </a:r>
          </a:p>
          <a:p>
            <a:r>
              <a:rPr lang="fr-FR" sz="1050" b="1">
                <a:solidFill>
                  <a:srgbClr val="282828"/>
                </a:solidFill>
                <a:latin typeface="Calibri" panose="020F0502020204030204" pitchFamily="34" charset="0"/>
              </a:rPr>
              <a:t>Marge : 0 j</a:t>
            </a:r>
            <a:endParaRPr lang="fr-CH" sz="1050" b="1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D68B8CA-E683-D839-A4E0-D0A8B8927565}"/>
              </a:ext>
            </a:extLst>
          </p:cNvPr>
          <p:cNvSpPr/>
          <p:nvPr/>
        </p:nvSpPr>
        <p:spPr>
          <a:xfrm>
            <a:off x="12852400" y="3302000"/>
            <a:ext cx="1727200" cy="330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rIns="38100" rtlCol="0" anchor="ctr"/>
          <a:lstStyle/>
          <a:p>
            <a:pPr algn="ctr"/>
            <a:r>
              <a:rPr lang="fr-CH" sz="1100" b="1">
                <a:solidFill>
                  <a:srgbClr val="FFFFFF"/>
                </a:solidFill>
                <a:latin typeface="Calibri" panose="020F0502020204030204" pitchFamily="34" charset="0"/>
              </a:rPr>
              <a:t>J - Formation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192A6F-9FA6-E2D6-D580-4BFA93913967}"/>
              </a:ext>
            </a:extLst>
          </p:cNvPr>
          <p:cNvSpPr/>
          <p:nvPr/>
        </p:nvSpPr>
        <p:spPr>
          <a:xfrm>
            <a:off x="12852400" y="3632200"/>
            <a:ext cx="1727200" cy="939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bIns="25400" rtlCol="0" anchor="ctr"/>
          <a:lstStyle/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Durée : 2 j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tôt : 25 → 27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tard : 25 → 27</a:t>
            </a:r>
          </a:p>
          <a:p>
            <a:r>
              <a:rPr lang="fr-FR" sz="1050" b="1">
                <a:solidFill>
                  <a:srgbClr val="282828"/>
                </a:solidFill>
                <a:latin typeface="Calibri" panose="020F0502020204030204" pitchFamily="34" charset="0"/>
              </a:rPr>
              <a:t>Marge : 0 j</a:t>
            </a:r>
            <a:endParaRPr lang="fr-CH" sz="1050" b="1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C758F7-8767-2C21-8CDE-D689163687FC}"/>
              </a:ext>
            </a:extLst>
          </p:cNvPr>
          <p:cNvSpPr/>
          <p:nvPr/>
        </p:nvSpPr>
        <p:spPr>
          <a:xfrm>
            <a:off x="508000" y="3302000"/>
            <a:ext cx="1727200" cy="330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rIns="38100" rtlCol="0" anchor="ctr"/>
          <a:lstStyle/>
          <a:p>
            <a:pPr algn="ctr"/>
            <a:r>
              <a:rPr lang="fr-CH" sz="1100" b="1">
                <a:solidFill>
                  <a:srgbClr val="FFFFFF"/>
                </a:solidFill>
                <a:latin typeface="Calibri" panose="020F0502020204030204" pitchFamily="34" charset="0"/>
              </a:rPr>
              <a:t>A - Cadrage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F19DBB-28B7-4DD4-7B9A-023A34AB7C94}"/>
              </a:ext>
            </a:extLst>
          </p:cNvPr>
          <p:cNvSpPr/>
          <p:nvPr/>
        </p:nvSpPr>
        <p:spPr>
          <a:xfrm>
            <a:off x="508000" y="3632200"/>
            <a:ext cx="1727200" cy="939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bIns="25400" rtlCol="0" anchor="ctr"/>
          <a:lstStyle/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Durée : 2 j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tôt : 0 → 2</a:t>
            </a:r>
          </a:p>
          <a:p>
            <a:r>
              <a:rPr lang="fr-FR" sz="1050">
                <a:solidFill>
                  <a:srgbClr val="282828"/>
                </a:solidFill>
                <a:latin typeface="Calibri" panose="020F0502020204030204" pitchFamily="34" charset="0"/>
              </a:rPr>
              <a:t>Au plus tard : 0 → 2</a:t>
            </a:r>
          </a:p>
          <a:p>
            <a:r>
              <a:rPr lang="fr-FR" sz="1050" b="1">
                <a:solidFill>
                  <a:srgbClr val="282828"/>
                </a:solidFill>
                <a:latin typeface="Calibri" panose="020F0502020204030204" pitchFamily="34" charset="0"/>
              </a:rPr>
              <a:t>Marge : 0 j</a:t>
            </a:r>
            <a:endParaRPr lang="fr-CH" sz="1050" b="1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4A19BF0-7402-954E-5628-BB45AACCAF67}"/>
              </a:ext>
            </a:extLst>
          </p:cNvPr>
          <p:cNvSpPr txBox="1"/>
          <p:nvPr/>
        </p:nvSpPr>
        <p:spPr>
          <a:xfrm>
            <a:off x="508000" y="279400"/>
            <a:ext cx="1625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400" b="1">
                <a:solidFill>
                  <a:srgbClr val="1F4E79"/>
                </a:solidFill>
                <a:latin typeface="Calibri" panose="020F0502020204030204" pitchFamily="34" charset="0"/>
              </a:rPr>
              <a:t>Réseau PERT - Outil de réservation de salles</a:t>
            </a:r>
            <a:endParaRPr lang="fr-CH" sz="2400" b="1">
              <a:solidFill>
                <a:srgbClr val="1F4E79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20EA6E0-4EB3-145B-F0CF-88F3D23B0EEA}"/>
              </a:ext>
            </a:extLst>
          </p:cNvPr>
          <p:cNvSpPr txBox="1"/>
          <p:nvPr/>
        </p:nvSpPr>
        <p:spPr>
          <a:xfrm>
            <a:off x="508000" y="736600"/>
            <a:ext cx="1625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300">
                <a:solidFill>
                  <a:srgbClr val="505050"/>
                </a:solidFill>
                <a:latin typeface="Calibri" panose="020F0502020204030204" pitchFamily="34" charset="0"/>
              </a:rPr>
              <a:t>Durées en jours ouvrés. En rouge : chemin critique A &gt; B &gt; C &gt; F &gt; G &gt; H &gt; J &gt; K (28 jours, marge nulle). En bleu : tâches avec 1 jour de marge.</a:t>
            </a:r>
            <a:endParaRPr lang="fr-CH" sz="1300">
              <a:solidFill>
                <a:srgbClr val="505050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C3FA2442-7DAD-6B70-2BB3-C59B4E61F0E2}"/>
              </a:ext>
            </a:extLst>
          </p:cNvPr>
          <p:cNvSpPr txBox="1"/>
          <p:nvPr/>
        </p:nvSpPr>
        <p:spPr>
          <a:xfrm>
            <a:off x="508000" y="7620000"/>
            <a:ext cx="1625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000">
                <a:solidFill>
                  <a:srgbClr val="808080"/>
                </a:solidFill>
                <a:latin typeface="Calibri" panose="020F0502020204030204" pitchFamily="34" charset="0"/>
              </a:rPr>
              <a:t>Valeurs reprises du fichier planning-gantt.xlsx  |  De Sousa Nunes Alessandro - CFC 3</a:t>
            </a:r>
            <a:endParaRPr lang="fr-CH" sz="10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8167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Office PowerPoint</Application>
  <PresentationFormat>Personnalisé</PresentationFormat>
  <Paragraphs>58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Nunes</dc:creator>
  <cp:lastModifiedBy>Alessandro Nunes</cp:lastModifiedBy>
  <cp:revision>1</cp:revision>
  <dcterms:created xsi:type="dcterms:W3CDTF">2026-10-14T09:52:02Z</dcterms:created>
  <dcterms:modified xsi:type="dcterms:W3CDTF">2026-10-14T09:52:02Z</dcterms:modified>
</cp:coreProperties>
</file>