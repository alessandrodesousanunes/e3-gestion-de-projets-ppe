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F203A-16F4-6C8F-3EDC-F923E5C66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BC7B19E-EE4D-9A87-F91A-3BFFB15AB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5DFDA9-D3AF-A2C0-5420-C706014E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2A91E0-EE3C-34B7-25BD-FDF514684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83174C-DCEE-4F32-ED75-EE8AECA4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28101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67584B-212B-5E56-816F-CAC486ED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8816C6-C96F-C854-102E-CAD745794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D0798E-88A7-3AE1-E01C-399408DE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55C46D-5BF3-3BA7-E1E2-FBBEF99A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3CC9F1-AE7C-FC47-EB6B-2336B22C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8017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DF9074-1FF0-70CC-A4A5-CAEEC90A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56C7EF-6E6F-E6A8-6979-122EC8DCB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A75794-3215-8669-9CCD-98BEAE81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C91BC1-7D7B-7D06-7DF4-4B0C790F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0EB632-13A3-9D0E-AD07-FF02B46A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0991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75325-0922-576E-96D2-CD5C1FB1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5034CA-DFC2-B8F3-EB29-E94A3CBB8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15B56B-5944-9FB8-76C2-91FC41DF7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1E1000-A7DF-91C1-F267-1E25138B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A3F534-7ADD-0422-3061-FEABF2C75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D5F183-419D-D192-1F43-93CB4ACE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8300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46571-EA61-F6CA-2363-8629F7269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EEB0A5-ED3F-06DF-6B27-B6C3672BA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238DE1-3008-0F0E-C0CA-623F54399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EEF67E9-3487-4434-E50F-A09E10CE9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04F6B0-158A-1891-BFCB-0638A23DC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AE1325A-189B-323A-10FB-2502B2C8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8477EF4-81F2-DD3B-E2E2-9AB08B90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3AF2ED1-F258-DF60-7BBB-7231948C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8968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4DAA65-4743-61F9-527B-36A4A49E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F40E43-235C-21C9-E68F-C618F395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F6B15E-07BE-E7A6-C62F-E064F39E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D50DB80-5DBC-DE2A-ECF9-356A21E7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4233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BB72D27-BC41-75ED-938C-129E4CD4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ECCB3C-6072-BA16-B471-709A6332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60BCE5-9055-7BA4-B337-AFB73F5C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3873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5A28ED-7E45-CAA1-65BE-14D98D240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5C8152-80F2-A3D4-BB45-5B9ECF40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2E15F1-8049-9D41-472F-DF6D79C94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6F0EA1-9696-3973-EA46-C3FA0012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2E0D8D-2AB2-B1C2-FAD5-CD975FF9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7BDC43-2EF3-4AA4-B32D-7B7BC0EE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75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864E9-D1A2-0D8D-BB30-EFC2BA9F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CAA39CC-F63D-2C6F-41E2-30F8B0CD228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4BE697-95BD-DAC3-A4D6-E842B2D3E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931CEF-4C28-963F-0AD7-9A1E644E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1EFB23-E024-6647-3478-4AF0E3EB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19A2E3-4034-0CDA-EA73-873717F8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97158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7D1D38-4819-1EB0-2DB2-1F33323C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4E85B1-9CFD-4953-A4FE-E1CD59D51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60886B-9A61-331A-C2EA-BF6D02612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0078D5-0EF2-33F0-770C-E28B7078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A4ADF3-8766-96A3-17DB-7CCCBDEA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1073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FA07713-3ABF-4848-B3A2-4672A232D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792F88-7C6D-E60C-E601-62BFE94A0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31D4D7-D024-63FE-05BD-FB3CA526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2EA9CF-C421-1B24-E403-5DBAFFC4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F32EF7-D4EF-CE38-9014-F87E384D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333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1E90C4-EB74-6357-CDCE-4067D39B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305E04-BFF2-5D33-C9DC-35B0A29E2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0B185A-82F2-377E-DAA3-84924A5C2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2AF89-9B3D-42FE-B6B3-1FBF80538287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412975-A917-052D-D023-50F7F89E3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F8D99D-44C1-ADAC-3BAB-1E064508E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98C08-C078-4DD8-AFFC-77178A80ECD9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3929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D9A32E-1B7C-E803-6625-3C74C9615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2E61D5-352A-B2CB-D0CD-23CC0818C544}"/>
              </a:ext>
            </a:extLst>
          </p:cNvPr>
          <p:cNvSpPr txBox="1"/>
          <p:nvPr/>
        </p:nvSpPr>
        <p:spPr>
          <a:xfrm>
            <a:off x="762000" y="1905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4000" b="1">
                <a:solidFill>
                  <a:srgbClr val="FFFFFF"/>
                </a:solidFill>
                <a:latin typeface="Calibri" panose="020F0502020204030204" pitchFamily="34" charset="0"/>
              </a:rPr>
              <a:t>Techniques de gestion de projets</a:t>
            </a:r>
            <a:endParaRPr lang="fr-CH" sz="4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8F5294-192F-65D4-25A7-7CA6804E2EB3}"/>
              </a:ext>
            </a:extLst>
          </p:cNvPr>
          <p:cNvSpPr txBox="1"/>
          <p:nvPr/>
        </p:nvSpPr>
        <p:spPr>
          <a:xfrm>
            <a:off x="762000" y="26035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200">
                <a:solidFill>
                  <a:srgbClr val="BDD7EE"/>
                </a:solidFill>
                <a:latin typeface="Calibri" panose="020F0502020204030204" pitchFamily="34" charset="0"/>
              </a:rPr>
              <a:t>Rendu de la semaine PPE - les 5 projets du cours 306</a:t>
            </a:r>
            <a:endParaRPr lang="fr-CH" sz="2200">
              <a:solidFill>
                <a:srgbClr val="BDD7EE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0234A76-684F-56C7-0E2E-EAB7B61A5DBE}"/>
              </a:ext>
            </a:extLst>
          </p:cNvPr>
          <p:cNvCxnSpPr/>
          <p:nvPr/>
        </p:nvCxnSpPr>
        <p:spPr>
          <a:xfrm>
            <a:off x="762000" y="3238500"/>
            <a:ext cx="38100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66770C58-F79D-E6D6-CE2C-9BE4285369D3}"/>
              </a:ext>
            </a:extLst>
          </p:cNvPr>
          <p:cNvSpPr txBox="1"/>
          <p:nvPr/>
        </p:nvSpPr>
        <p:spPr>
          <a:xfrm>
            <a:off x="762000" y="3492500"/>
            <a:ext cx="1066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Calibri" panose="020F0502020204030204" pitchFamily="34" charset="0"/>
              </a:rPr>
              <a:t>De Sousa Nunes Alessandro - CFC 3</a:t>
            </a:r>
          </a:p>
          <a:p>
            <a:r>
              <a:rPr lang="fr-FR" sz="1600">
                <a:solidFill>
                  <a:srgbClr val="FFFFFF"/>
                </a:solidFill>
                <a:latin typeface="Calibri" panose="020F0502020204030204" pitchFamily="34" charset="0"/>
              </a:rPr>
              <a:t>Formateur référent : Morrad</a:t>
            </a:r>
          </a:p>
          <a:p>
            <a:r>
              <a:rPr lang="fr-FR" sz="1600">
                <a:solidFill>
                  <a:srgbClr val="FFFFFF"/>
                </a:solidFill>
                <a:latin typeface="Calibri" panose="020F0502020204030204" pitchFamily="34" charset="0"/>
              </a:rPr>
              <a:t>Octobre 2026</a:t>
            </a:r>
            <a:endParaRPr lang="fr-CH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444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DCA7B9-B799-B6BD-C04B-17CF3FA99B7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96E4F21-D803-844B-870C-F61944F26656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300" b="1">
                <a:solidFill>
                  <a:srgbClr val="3B78B5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28189E-EEEE-68AA-EE5F-7A6F232EF10C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Ma démarche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239117-BECE-AA99-773C-37F88AFBAD08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5649F7-68FB-AF1D-3CC8-AF4978148C7F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2 / 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C2D8A6B-291E-4F8D-FF67-AFE354B7F70A}"/>
              </a:ext>
            </a:extLst>
          </p:cNvPr>
          <p:cNvSpPr txBox="1"/>
          <p:nvPr/>
        </p:nvSpPr>
        <p:spPr>
          <a:xfrm>
            <a:off x="508000" y="1270000"/>
            <a:ext cx="5461000" cy="2169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La consigne demandait de choisir un projet. J'ai réalisé les 5, car je les trouvais trop courts pour une semaine de PPE.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Chaque projet est fait dans les outils qu'on utilise en entreprise : Excel (calculs, planning, suivi), Word (documents), PowerPoint (schémas).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Les calculs (dates, marges, coûts, scores) sont faits par formules : si une donnée change, tout se met à jour.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Tout le rendu est versionné dans un dépôt GitHub privé.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4D8947B-C486-3C85-73A5-EDF6E1FA5DEB}"/>
              </a:ext>
            </a:extLst>
          </p:cNvPr>
          <p:cNvSpPr/>
          <p:nvPr/>
        </p:nvSpPr>
        <p:spPr>
          <a:xfrm>
            <a:off x="6350000" y="1333500"/>
            <a:ext cx="5334000" cy="3175000"/>
          </a:xfrm>
          <a:prstGeom prst="roundRect">
            <a:avLst/>
          </a:prstGeom>
          <a:solidFill>
            <a:srgbClr val="F2F2F2"/>
          </a:solidFill>
          <a:ln>
            <a:solidFill>
              <a:srgbClr val="3B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F100990-89AC-5F4E-F50E-C9777BC4F898}"/>
              </a:ext>
            </a:extLst>
          </p:cNvPr>
          <p:cNvSpPr txBox="1"/>
          <p:nvPr/>
        </p:nvSpPr>
        <p:spPr>
          <a:xfrm>
            <a:off x="6540500" y="1460500"/>
            <a:ext cx="495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500" b="1">
                <a:solidFill>
                  <a:srgbClr val="1F4E79"/>
                </a:solidFill>
                <a:latin typeface="Calibri" panose="020F0502020204030204" pitchFamily="34" charset="0"/>
              </a:rPr>
              <a:t>Formateur absent : parties simulées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EE7B248-F626-095D-256B-0B962F33813D}"/>
              </a:ext>
            </a:extLst>
          </p:cNvPr>
          <p:cNvSpPr txBox="1"/>
          <p:nvPr/>
        </p:nvSpPr>
        <p:spPr>
          <a:xfrm>
            <a:off x="6540500" y="1841500"/>
            <a:ext cx="4953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300">
                <a:solidFill>
                  <a:srgbClr val="282828"/>
                </a:solidFill>
                <a:latin typeface="Calibri" panose="020F0502020204030204" pitchFamily="34" charset="0"/>
              </a:rPr>
              <a:t>Projet 1 : réponses à l'entretien de recueil des besoins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300">
                <a:solidFill>
                  <a:srgbClr val="282828"/>
                </a:solidFill>
                <a:latin typeface="Calibri" panose="020F0502020204030204" pitchFamily="34" charset="0"/>
              </a:rPr>
              <a:t>Projet 3 : choix du scénario de risques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300">
                <a:solidFill>
                  <a:srgbClr val="282828"/>
                </a:solidFill>
                <a:latin typeface="Calibri" panose="020F0502020204030204" pitchFamily="34" charset="0"/>
              </a:rPr>
              <a:t>Projet 4 : sprint simulé (demandé par la consigne)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300">
                <a:solidFill>
                  <a:srgbClr val="282828"/>
                </a:solidFill>
                <a:latin typeface="Calibri" panose="020F0502020204030204" pitchFamily="34" charset="0"/>
              </a:rPr>
              <a:t>Projet 5 : chiffres de la semaine, aléa et comité de pilotage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300">
                <a:solidFill>
                  <a:srgbClr val="282828"/>
                </a:solidFill>
                <a:latin typeface="Calibri" panose="020F0502020204030204" pitchFamily="34" charset="0"/>
              </a:rPr>
              <a:t>Toujours signalé dans les documents. Aucune validation du formateur n'a été inventée.</a:t>
            </a:r>
            <a:endParaRPr lang="fr-CH" sz="13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45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4983F2-C120-CEBF-E0EC-4EB9B607EDF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F4A0672-BBE8-78D3-316E-552EB5D6F79B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3B78B5"/>
                </a:solidFill>
                <a:latin typeface="Calibri" panose="020F0502020204030204" pitchFamily="34" charset="0"/>
              </a:rPr>
              <a:t>Projet 1 - Charte et découpage</a:t>
            </a:r>
            <a:endParaRPr lang="fr-CH" sz="1300" b="1">
              <a:solidFill>
                <a:srgbClr val="3B78B5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6B58CB-81D3-ECFA-197C-067AA9D2EBE0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Charte : journée portes ouvertes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A5AFB5-EFB7-1B13-C758-13AE6F2E4F54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C544AD-A87B-23B2-CD33-B3F32C42EA49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3 / 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F7DB41F-6942-6999-6688-20E70EE91E60}"/>
              </a:ext>
            </a:extLst>
          </p:cNvPr>
          <p:cNvSpPr txBox="1"/>
          <p:nvPr/>
        </p:nvSpPr>
        <p:spPr>
          <a:xfrm>
            <a:off x="508000" y="1270000"/>
            <a:ext cx="4826000" cy="201593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PME de 20 personnes, événement dans 6 semaines.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Objectifs mesurables : 80 visiteurs, une démo par service, 70 % de satisfaits, budget de CHF 5'000.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Périmètre clair : ce qui est inclus et ce qui est exclu (salle externe, publicité payante...).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6 parties prenantes avec leur rôle et leurs attentes.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8 jalons, du lancement (19.10) au bilan (04.12).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45615FF-1FE8-CA66-B539-F41FDA204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1270001"/>
            <a:ext cx="6096000" cy="191986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18041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255F61-9539-222B-861B-FEDB7989702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E0AB21C-1345-1E70-C6C8-DFAAC9717E6B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3B78B5"/>
                </a:solidFill>
                <a:latin typeface="Calibri" panose="020F0502020204030204" pitchFamily="34" charset="0"/>
              </a:rPr>
              <a:t>Projet 1 - Charte et découpage</a:t>
            </a:r>
            <a:endParaRPr lang="fr-CH" sz="1300" b="1">
              <a:solidFill>
                <a:srgbClr val="3B78B5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0A35E3-0B20-C0AC-0257-5BEB5469CCB3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Découpage du projet (WBS)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39B267-D119-158B-152C-2158D2B8A761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E0C110A-74B7-AD8C-7106-0EC8B4B3B0C3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4 / 12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F6A2439-0F74-3A71-C83A-C0CAC76FE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1143000"/>
            <a:ext cx="9031111" cy="5080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3601892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6CAC5A-17D4-F10E-814D-37C0C14187D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0856516-3CFB-AFFC-EE85-E8B0823BC822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3B78B5"/>
                </a:solidFill>
                <a:latin typeface="Calibri" panose="020F0502020204030204" pitchFamily="34" charset="0"/>
              </a:rPr>
              <a:t>Projet 2 - Cahier des charges et Gantt</a:t>
            </a:r>
            <a:endParaRPr lang="fr-CH" sz="1300" b="1">
              <a:solidFill>
                <a:srgbClr val="3B78B5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B7A3121-B2F4-3E25-1BF8-AFAB10DE4903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600" b="1">
                <a:solidFill>
                  <a:srgbClr val="1F4E79"/>
                </a:solidFill>
                <a:latin typeface="Calibri" panose="020F0502020204030204" pitchFamily="34" charset="0"/>
              </a:rPr>
              <a:t>Planning Gantt et chemin critique</a:t>
            </a:r>
            <a:endParaRPr lang="fr-CH" sz="2600" b="1">
              <a:solidFill>
                <a:srgbClr val="1F4E7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A554913-462C-362B-1112-505C98F1471C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8484F78-C893-665D-9F8B-A2A6C55C77D1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5 / 12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E142897-1866-3BAA-2638-D15D9DC01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11176000" cy="228293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446369A-2A12-3D32-0740-5E106022CA6E}"/>
              </a:ext>
            </a:extLst>
          </p:cNvPr>
          <p:cNvSpPr txBox="1"/>
          <p:nvPr/>
        </p:nvSpPr>
        <p:spPr>
          <a:xfrm>
            <a:off x="508000" y="5080000"/>
            <a:ext cx="11176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Outil web de réservation de salles pour une fiduciaire : 11 tâches, 28 jours ouvrés, du 02.11 au 09.12.2026.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Chemin critique A &gt; B &gt; C &gt; F &gt; G &gt; H &gt; J &gt; K (branche interface) : un jour de retard sur ces tâches = un jour de retard sur le projet.</a:t>
            </a:r>
            <a:endParaRPr lang="fr-CH" sz="14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5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5A0D5E-D4E3-B8D0-33FE-D2974315A4C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46B11D-5DCE-A349-2842-1E5BA8476C2F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3B78B5"/>
                </a:solidFill>
                <a:latin typeface="Calibri" panose="020F0502020204030204" pitchFamily="34" charset="0"/>
              </a:rPr>
              <a:t>Projet 2 - Cahier des charges et Gantt</a:t>
            </a:r>
            <a:endParaRPr lang="fr-CH" sz="1300" b="1">
              <a:solidFill>
                <a:srgbClr val="3B78B5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F083E1-A543-B2EB-80C5-4598BFD2F792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Vérification du planning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E170EA-DE0A-3D6D-18F9-D4C8276B3B90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9C2F89-C5D1-F710-C2D1-961854DB1097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6 / 12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C9AEE80-5E8B-500F-DD65-FC89D5B61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78407"/>
              </p:ext>
            </p:extLst>
          </p:nvPr>
        </p:nvGraphicFramePr>
        <p:xfrm>
          <a:off x="508000" y="1397000"/>
          <a:ext cx="1117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83951575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5562439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37091648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43868156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Modification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Résultat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8338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Contrôle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Aucune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28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latin typeface="Calibri" panose="020F0502020204030204" pitchFamily="34" charset="0"/>
                        </a:rPr>
                        <a:t>Somme du chemin critique = durée du projet</a:t>
                      </a:r>
                      <a:endParaRPr lang="fr-CH" sz="14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70816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Test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latin typeface="Calibri" panose="020F0502020204030204" pitchFamily="34" charset="0"/>
                        </a:rPr>
                        <a:t>Tâche D : 3 j -&gt; 5 j</a:t>
                      </a:r>
                      <a:endParaRPr lang="fr-CH" sz="14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29 jours, fin 10.12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latin typeface="Calibri" panose="020F0502020204030204" pitchFamily="34" charset="0"/>
                        </a:rPr>
                        <a:t>D et E deviennent critiques (marge de 1 j dépassée)</a:t>
                      </a:r>
                      <a:endParaRPr lang="fr-CH" sz="14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57628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Test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latin typeface="Calibri" panose="020F0502020204030204" pitchFamily="34" charset="0"/>
                        </a:rPr>
                        <a:t>Tâche F : 7 j -&gt; 9 j</a:t>
                      </a:r>
                      <a:endParaRPr lang="fr-CH" sz="14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30 jours, fin 11.12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latin typeface="Calibri" panose="020F0502020204030204" pitchFamily="34" charset="0"/>
                        </a:rPr>
                        <a:t>Plus aucune réserve avant la date limite du client</a:t>
                      </a:r>
                      <a:endParaRPr lang="fr-CH" sz="14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687892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D1464F18-FBCF-36F7-ACF4-94705DF71626}"/>
              </a:ext>
            </a:extLst>
          </p:cNvPr>
          <p:cNvSpPr txBox="1"/>
          <p:nvPr/>
        </p:nvSpPr>
        <p:spPr>
          <a:xfrm>
            <a:off x="508000" y="4064000"/>
            <a:ext cx="11176000" cy="63094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Les tests ont été faits directement dans le fichier Excel, avec captures à l'appui.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Point d'attention : la validation des maquettes (tâche C) dépend du client. Je propose de fixer la date de validation dès le lancement.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76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FC1A09-3E70-9A2F-F511-A9C4282A2AA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45C2CFC-0C58-097B-15AE-0F8AC17B393A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3B78B5"/>
                </a:solidFill>
                <a:latin typeface="Calibri" panose="020F0502020204030204" pitchFamily="34" charset="0"/>
              </a:rPr>
              <a:t>Projet 3 - Gestion des risques</a:t>
            </a:r>
            <a:endParaRPr lang="fr-CH" sz="1300" b="1">
              <a:solidFill>
                <a:srgbClr val="3B78B5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FD4E0AF-6D00-72F0-659A-813219ACC7BF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600" b="1">
                <a:solidFill>
                  <a:srgbClr val="1F4E79"/>
                </a:solidFill>
                <a:latin typeface="Calibri" panose="020F0502020204030204" pitchFamily="34" charset="0"/>
              </a:rPr>
              <a:t>Analyse des risques : migration de la messagerie</a:t>
            </a:r>
            <a:endParaRPr lang="fr-CH" sz="2600" b="1">
              <a:solidFill>
                <a:srgbClr val="1F4E7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220332-75E3-D9F6-C81B-8E7523E978AD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0B6B83D-F38D-870B-51A3-C28812B1EAAB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7 / 12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AA2CAF9-2865-4B80-FEFC-0386866F9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06500"/>
            <a:ext cx="5969000" cy="263459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097418E-D157-1A25-8109-C770C5E25597}"/>
              </a:ext>
            </a:extLst>
          </p:cNvPr>
          <p:cNvSpPr txBox="1"/>
          <p:nvPr/>
        </p:nvSpPr>
        <p:spPr>
          <a:xfrm>
            <a:off x="6731000" y="1270000"/>
            <a:ext cx="4953000" cy="26314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10 risques : 6 techniques, 2 organisationnels, 2 humains.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Score = probabilité x impact. Matrice remplie automatiquement depuis le registre.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R1 - Perte de courriels (15) : sauvegarde, migration pilote, contrôle avant/après.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R2 - Coupure au basculement (12) : bascule le vendredi soir, TTL abaissé, retour arrière prêt.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R3 - Utilisateurs perdus (12) : formation courte, guide d'une page, référents.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400">
                <a:solidFill>
                  <a:srgbClr val="282828"/>
                </a:solidFill>
                <a:latin typeface="Calibri" panose="020F0502020204030204" pitchFamily="34" charset="0"/>
              </a:rPr>
              <a:t>Après les plans, les 3 risques passent au niveau moyen.</a:t>
            </a:r>
            <a:endParaRPr lang="fr-CH" sz="14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74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CFD246-F7CB-E926-4B65-F892821BF01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9439090-1109-A06C-11D5-E1AF36D7EAF1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3B78B5"/>
                </a:solidFill>
                <a:latin typeface="Calibri" panose="020F0502020204030204" pitchFamily="34" charset="0"/>
              </a:rPr>
              <a:t>Projet 4 - Sprint Scrum simulé</a:t>
            </a:r>
            <a:endParaRPr lang="fr-CH" sz="1300" b="1">
              <a:solidFill>
                <a:srgbClr val="3B78B5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081B31-851D-AC4B-E870-43482E88307D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Sprint Scrum : rappels d'échéance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5DFAF3-18E4-01E4-BB9B-7AB49FD703CF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083607-719D-A208-E14F-C57C09EF75A7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8 / 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AC9DD3-5675-3998-B710-34DCB7CDD02F}"/>
              </a:ext>
            </a:extLst>
          </p:cNvPr>
          <p:cNvSpPr txBox="1"/>
          <p:nvPr/>
        </p:nvSpPr>
        <p:spPr>
          <a:xfrm>
            <a:off x="508000" y="1270000"/>
            <a:ext cx="4826000" cy="2169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10 user stories avec critères d'acceptation, priorisées (MoSCoW) et estimées en points.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Capacité : 3 développeurs x 5 jours. Engagement : 25 points (US-01 à US-08).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Definition of Done : revue de code, tests, déploiement de test, acceptation du PO.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Résultat : 23 points livrés sur 25. US-08 non terminée, remise dans le backlog.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69EFE87-9BF2-7846-9BFA-487F2BFED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1270000"/>
            <a:ext cx="6096000" cy="334740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25462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B0BA1C-23C4-F4F7-4BC6-2C1A0FED38E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C2E619F-3917-78C3-4183-A6B1B5922F3B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3B78B5"/>
                </a:solidFill>
                <a:latin typeface="Calibri" panose="020F0502020204030204" pitchFamily="34" charset="0"/>
              </a:rPr>
              <a:t>Projet 4 - Sprint Scrum simulé</a:t>
            </a:r>
            <a:endParaRPr lang="fr-CH" sz="1300" b="1">
              <a:solidFill>
                <a:srgbClr val="3B78B5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AAAAC0-CD81-8B25-6786-9788C119815D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Revue et rétrospective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BA795F-18AF-96C5-014C-0A097CF4EFC2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927B900-2BAE-04F5-C26E-346E28142C44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9 / 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8F1485-C9F6-D40A-8C38-4BACF5BB8C1B}"/>
              </a:ext>
            </a:extLst>
          </p:cNvPr>
          <p:cNvSpPr txBox="1"/>
          <p:nvPr/>
        </p:nvSpPr>
        <p:spPr>
          <a:xfrm>
            <a:off x="508000" y="1270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b="1">
                <a:solidFill>
                  <a:srgbClr val="1F4E79"/>
                </a:solidFill>
                <a:latin typeface="Calibri" panose="020F0502020204030204" pitchFamily="34" charset="0"/>
              </a:rPr>
              <a:t>Revue de sprint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BF1023-5DF8-14EF-8F78-E1628824DD47}"/>
              </a:ext>
            </a:extLst>
          </p:cNvPr>
          <p:cNvSpPr txBox="1"/>
          <p:nvPr/>
        </p:nvSpPr>
        <p:spPr>
          <a:xfrm>
            <a:off x="508000" y="1651000"/>
            <a:ext cx="5334000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Objectif du sprint atteint : rappels dans l'application et par e-mail.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Démo : tâche avec échéance, notification, e-mail, préférences, tâche en retard.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Retour utilisateurs : choisir l'heure du rappel -&gt; nouvelle story.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Vélocité : 23 points (92 %).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9854B2-90B9-15D3-3EE9-41F1D8CE234A}"/>
              </a:ext>
            </a:extLst>
          </p:cNvPr>
          <p:cNvSpPr txBox="1"/>
          <p:nvPr/>
        </p:nvSpPr>
        <p:spPr>
          <a:xfrm>
            <a:off x="6350000" y="1270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b="1">
                <a:solidFill>
                  <a:srgbClr val="1F4E79"/>
                </a:solidFill>
                <a:latin typeface="Calibri" panose="020F0502020204030204" pitchFamily="34" charset="0"/>
              </a:rPr>
              <a:t>Rétrospective : actions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7CC771-559C-FAFC-184A-5333ECFC2705}"/>
              </a:ext>
            </a:extLst>
          </p:cNvPr>
          <p:cNvSpPr txBox="1"/>
          <p:nvPr/>
        </p:nvSpPr>
        <p:spPr>
          <a:xfrm>
            <a:off x="6350000" y="1651000"/>
            <a:ext cx="53340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Lister les dépendances externes (accès, comptes) dès le planning.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Commencer par les grosses stories, maximum 2 en cours par développeur.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Ne plus commencer une story qui ne peut pas être finie avant la fin du sprint.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885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FA395E-D265-C6AB-0679-3E21BEEC027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C75526-B74B-E367-76D0-B19A26D9AA0F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300" b="1">
                <a:solidFill>
                  <a:srgbClr val="3B78B5"/>
                </a:solidFill>
                <a:latin typeface="Calibri" panose="020F0502020204030204" pitchFamily="34" charset="0"/>
              </a:rPr>
              <a:t>Projet 5 - Pilotage complet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8C0939-BA5E-F1C5-DB5B-E8C6F39BA0ED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600" b="1">
                <a:solidFill>
                  <a:srgbClr val="1F4E79"/>
                </a:solidFill>
                <a:latin typeface="Calibri" panose="020F0502020204030204" pitchFamily="34" charset="0"/>
              </a:rPr>
              <a:t>Pilotage : wiki interne en 5 jours</a:t>
            </a:r>
            <a:endParaRPr lang="fr-CH" sz="2600" b="1">
              <a:solidFill>
                <a:srgbClr val="1F4E7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F549AB-0BF5-A2BB-33C3-52928DE2D101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FA8F447-BF2A-1957-2B10-867C7966F2E7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10 / 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D69727-372A-F9AF-1C5C-DB8BED6C869E}"/>
              </a:ext>
            </a:extLst>
          </p:cNvPr>
          <p:cNvSpPr txBox="1"/>
          <p:nvPr/>
        </p:nvSpPr>
        <p:spPr>
          <a:xfrm>
            <a:off x="508000" y="1270000"/>
            <a:ext cx="4826000" cy="2169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Budget de CHF 11'484 : heures x tarif de chaque rôle, plus une réserve de 10 %.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Suivi chaque soir dans un tableau de bord Excel : écart de coût et statut calculés automatiquement.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Deux comités de pilotage (J2 et J4) avec un rapport d'avancement.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Résultat (simulé) : livré le J5, CHF 10'905, soit +465 pris sur la réserve.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E708827-99E3-EEE9-CC87-0E6CF1025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1270000"/>
            <a:ext cx="6096000" cy="241116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  <p:extLst>
      <p:ext uri="{BB962C8B-B14F-4D97-AF65-F5344CB8AC3E}">
        <p14:creationId xmlns:p14="http://schemas.microsoft.com/office/powerpoint/2010/main" val="380879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AC1388-769F-2CA2-BE6A-7CCEAE46ADA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FC81B1-C47F-D14C-F0F5-88622AF0F83F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300" b="1">
                <a:solidFill>
                  <a:srgbClr val="3B78B5"/>
                </a:solidFill>
                <a:latin typeface="Calibri" panose="020F0502020204030204" pitchFamily="34" charset="0"/>
              </a:rPr>
              <a:t>Projet 5 - Pilotage complet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B711FB3-7DE3-6FA3-C786-523014631AD4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Gestion de l'aléa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75677A5-0C2B-09FD-EF9F-47393FB0CF0D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729FDBA-12B1-140C-FB65-F20D6CDE388A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11 / 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F136AEB-70B3-38F8-CEE9-87A687F57F0E}"/>
              </a:ext>
            </a:extLst>
          </p:cNvPr>
          <p:cNvSpPr txBox="1"/>
          <p:nvPr/>
        </p:nvSpPr>
        <p:spPr>
          <a:xfrm>
            <a:off x="508000" y="1206500"/>
            <a:ext cx="11176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700" b="1">
                <a:solidFill>
                  <a:srgbClr val="C0392B"/>
                </a:solidFill>
                <a:latin typeface="Calibri" panose="020F0502020204030204" pitchFamily="34" charset="0"/>
              </a:rPr>
              <a:t>J3 : l'administrateur système est malade (aléa simulé)</a:t>
            </a:r>
            <a:endParaRPr lang="fr-CH" sz="1700" b="1">
              <a:solidFill>
                <a:srgbClr val="C0392B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80E4EA39-1235-053A-F8A9-617AA75C9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461649"/>
              </p:ext>
            </p:extLst>
          </p:nvPr>
        </p:nvGraphicFramePr>
        <p:xfrm>
          <a:off x="508000" y="1651000"/>
          <a:ext cx="11176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66590004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9252111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420711353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18916837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Coût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Qualité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94432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fr-FR" sz="1400">
                          <a:latin typeface="Calibri" panose="020F0502020204030204" pitchFamily="34" charset="0"/>
                        </a:rPr>
                        <a:t>A - Tout décaler d'un jour</a:t>
                      </a:r>
                      <a:endParaRPr lang="fr-CH" sz="14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Fin le J6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~ +1'800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Inchangée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77689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fr-FR" sz="1400" b="1">
                          <a:latin typeface="Calibri" panose="020F0502020204030204" pitchFamily="34" charset="0"/>
                        </a:rPr>
                        <a:t>B - Le dév reprend les droits, l'admin finit le J4 (retenue)</a:t>
                      </a:r>
                      <a:endParaRPr lang="fr-CH" sz="1400" b="1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 b="1">
                          <a:latin typeface="Calibri" panose="020F0502020204030204" pitchFamily="34" charset="0"/>
                        </a:rPr>
                        <a:t>Fin le J5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 b="1">
                          <a:latin typeface="Calibri" panose="020F0502020204030204" pitchFamily="34" charset="0"/>
                        </a:rPr>
                        <a:t>+420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 b="1">
                          <a:latin typeface="Calibri" panose="020F0502020204030204" pitchFamily="34" charset="0"/>
                        </a:rPr>
                        <a:t>Inchangée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76199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fr-FR" sz="1400">
                          <a:latin typeface="Calibri" panose="020F0502020204030204" pitchFamily="34" charset="0"/>
                        </a:rPr>
                        <a:t>C - Comptes locaux au lieu des comptes d'entreprise</a:t>
                      </a:r>
                      <a:endParaRPr lang="fr-CH" sz="140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Fin le J5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400">
                          <a:latin typeface="Calibri" panose="020F0502020204030204" pitchFamily="34" charset="0"/>
                        </a:rPr>
                        <a:t>Dégradée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507265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42CDB0E6-9FA3-C41D-33C4-C288CA04A607}"/>
              </a:ext>
            </a:extLst>
          </p:cNvPr>
          <p:cNvSpPr txBox="1"/>
          <p:nvPr/>
        </p:nvSpPr>
        <p:spPr>
          <a:xfrm>
            <a:off x="508000" y="4191000"/>
            <a:ext cx="11176000" cy="63094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Option B : la seule qui garde la date de fin et la qualité. Le surcoût reste dans la réserve.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500">
                <a:solidFill>
                  <a:srgbClr val="282828"/>
                </a:solidFill>
                <a:latin typeface="Calibri" panose="020F0502020204030204" pitchFamily="34" charset="0"/>
              </a:rPr>
              <a:t>Décision prise en moins d'une heure grâce au tableau de bord et à la réserve préparés à l'avance.</a:t>
            </a:r>
            <a:endParaRPr lang="fr-CH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4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8438D2-F258-AC8E-45A9-011EAF2330A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E5990A0-BECC-B1AC-8622-FA16AB226FD3}"/>
              </a:ext>
            </a:extLst>
          </p:cNvPr>
          <p:cNvSpPr txBox="1"/>
          <p:nvPr/>
        </p:nvSpPr>
        <p:spPr>
          <a:xfrm>
            <a:off x="508000" y="279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300" b="1">
                <a:solidFill>
                  <a:srgbClr val="3B78B5"/>
                </a:solidFill>
                <a:latin typeface="Calibri" panose="020F0502020204030204" pitchFamily="34" charset="0"/>
              </a:rPr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D4EB6A-317B-8688-2D36-16636BEFB082}"/>
              </a:ext>
            </a:extLst>
          </p:cNvPr>
          <p:cNvSpPr txBox="1"/>
          <p:nvPr/>
        </p:nvSpPr>
        <p:spPr>
          <a:xfrm>
            <a:off x="508000" y="5080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2600" b="1">
                <a:solidFill>
                  <a:srgbClr val="1F4E79"/>
                </a:solidFill>
                <a:latin typeface="Calibri" panose="020F0502020204030204" pitchFamily="34" charset="0"/>
              </a:rPr>
              <a:t>Ce que j'ai appris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B879F03-DFC8-E52A-40B2-AF2D95A3A5EE}"/>
              </a:ext>
            </a:extLst>
          </p:cNvPr>
          <p:cNvSpPr txBox="1"/>
          <p:nvPr/>
        </p:nvSpPr>
        <p:spPr>
          <a:xfrm>
            <a:off x="508000" y="645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Techniques de gestion de projets (306)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81E019-477F-E5C7-12DA-4EC7A571A396}"/>
              </a:ext>
            </a:extLst>
          </p:cNvPr>
          <p:cNvSpPr txBox="1"/>
          <p:nvPr/>
        </p:nvSpPr>
        <p:spPr>
          <a:xfrm>
            <a:off x="10922000" y="6451600"/>
            <a:ext cx="76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H" sz="1000">
                <a:solidFill>
                  <a:srgbClr val="808080"/>
                </a:solidFill>
                <a:latin typeface="Calibri" panose="020F0502020204030204" pitchFamily="34" charset="0"/>
              </a:rPr>
              <a:t>12 / 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38CDBB1-DDA2-A7B4-C7F2-3F98103ED94C}"/>
              </a:ext>
            </a:extLst>
          </p:cNvPr>
          <p:cNvSpPr txBox="1"/>
          <p:nvPr/>
        </p:nvSpPr>
        <p:spPr>
          <a:xfrm>
            <a:off x="508000" y="1270000"/>
            <a:ext cx="11176000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700">
                <a:solidFill>
                  <a:srgbClr val="282828"/>
                </a:solidFill>
                <a:latin typeface="Calibri" panose="020F0502020204030204" pitchFamily="34" charset="0"/>
              </a:rPr>
              <a:t>Un planning n'est utile que si on sait ce qui est critique : le chemin critique montre où un retard coûte vraiment.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700">
                <a:solidFill>
                  <a:srgbClr val="282828"/>
                </a:solidFill>
                <a:latin typeface="Calibri" panose="020F0502020204030204" pitchFamily="34" charset="0"/>
              </a:rPr>
              <a:t>Des formules plutôt que des chiffres tapés à la main : on peut tester des scénarios et vérifier ses calculs.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700">
                <a:solidFill>
                  <a:srgbClr val="282828"/>
                </a:solidFill>
                <a:latin typeface="Calibri" panose="020F0502020204030204" pitchFamily="34" charset="0"/>
              </a:rPr>
              <a:t>Les risques humains (absence, disponibilité) sont souvent sous-estimés : il faut prévoir des binômes et de la marge.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700">
                <a:solidFill>
                  <a:srgbClr val="282828"/>
                </a:solidFill>
                <a:latin typeface="Calibri" panose="020F0502020204030204" pitchFamily="34" charset="0"/>
              </a:rPr>
              <a:t>Scrum : un objectif de sprint clair et une Definition of Done évitent les stories « presque finies ».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fr-FR" sz="1700">
                <a:solidFill>
                  <a:srgbClr val="282828"/>
                </a:solidFill>
                <a:latin typeface="Calibri" panose="020F0502020204030204" pitchFamily="34" charset="0"/>
              </a:rPr>
              <a:t>Un bon suivi sert à décider vite, pas seulement à constater les problèmes.</a:t>
            </a:r>
            <a:endParaRPr lang="fr-CH" sz="17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1268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Microsoft Office PowerPoint</Application>
  <PresentationFormat>Personnalisé</PresentationFormat>
  <Paragraphs>131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Nunes</dc:creator>
  <cp:lastModifiedBy>Alessandro Nunes</cp:lastModifiedBy>
  <cp:revision>1</cp:revision>
  <dcterms:created xsi:type="dcterms:W3CDTF">2026-10-14T09:33:59Z</dcterms:created>
  <dcterms:modified xsi:type="dcterms:W3CDTF">2026-10-14T09:33:59Z</dcterms:modified>
</cp:coreProperties>
</file>